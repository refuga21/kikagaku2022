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1" r:id="rId1"/>
  </p:sldMasterIdLst>
  <p:notesMasterIdLst>
    <p:notesMasterId r:id="rId10"/>
  </p:notesMasterIdLst>
  <p:sldIdLst>
    <p:sldId id="256" r:id="rId2"/>
    <p:sldId id="257" r:id="rId3"/>
    <p:sldId id="259" r:id="rId4"/>
    <p:sldId id="262" r:id="rId5"/>
    <p:sldId id="265" r:id="rId6"/>
    <p:sldId id="266" r:id="rId7"/>
    <p:sldId id="261" r:id="rId8"/>
    <p:sldId id="263"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08">
          <p15:clr>
            <a:srgbClr val="A4A3A4"/>
          </p15:clr>
        </p15:guide>
        <p15:guide id="2" pos="287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000"/>
  </p:normalViewPr>
  <p:slideViewPr>
    <p:cSldViewPr snapToGrid="0">
      <p:cViewPr varScale="1">
        <p:scale>
          <a:sx n="98" d="100"/>
          <a:sy n="98" d="100"/>
        </p:scale>
        <p:origin x="1046" y="72"/>
      </p:cViewPr>
      <p:guideLst>
        <p:guide orient="horz" pos="1608"/>
        <p:guide pos="2877"/>
      </p:guideLst>
    </p:cSldViewPr>
  </p:slideViewPr>
  <p:notesTextViewPr>
    <p:cViewPr>
      <p:scale>
        <a:sx n="100" d="100"/>
        <a:sy n="100" d="100"/>
      </p:scale>
      <p:origin x="0" y="0"/>
    </p:cViewPr>
  </p:notesText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Google Shape;3;n"/>
          <p:cNvSpPr>
            <a:spLocks noGrp="1" noRot="1" noChangeAspect="1" noTextEdi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w="sm" len="sm"/>
            <a:tailEnd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wrap="square" lIns="91424" tIns="91424" rIns="91424" bIns="91424"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pPr>
              <a:defRPr/>
            </a:pPr>
            <a:endParaRPr lang="ja-JP" altLang="en-US"/>
          </a:p>
        </p:txBody>
      </p:sp>
    </p:spTree>
  </p:cSld>
  <p:clrMap bg1="lt1" tx1="dk1" bg2="dk2" tx2="lt2" accent1="accent1" accent2="accent2" accent3="accent3" accent4="accent4" accent5="accent5" accent6="accent6" hlink="hlink" folHlink="folHlink"/>
  <p:hf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6" name="Google Shape;96;p1: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w="sm" len="sm"/>
            <a:tailEnd w="sm" len="sm"/>
          </a:ln>
        </p:spPr>
      </p:sp>
      <p:sp>
        <p:nvSpPr>
          <p:cNvPr id="97" name="Google Shape;97;p1:notes"/>
          <p:cNvSpPr txBox="1">
            <a:spLocks noGrp="1"/>
          </p:cNvSpPr>
          <p:nvPr>
            <p:ph type="body" idx="1"/>
          </p:nvPr>
        </p:nvSpPr>
        <p:spPr>
          <a:xfrm>
            <a:off x="685800" y="4343400"/>
            <a:ext cx="5486400" cy="4114800"/>
          </a:xfrm>
          <a:prstGeom prst="rect">
            <a:avLst/>
          </a:prstGeom>
          <a:noFill/>
          <a:ln>
            <a:noFill/>
          </a:ln>
        </p:spPr>
        <p:txBody>
          <a:bodyPr wrap="square" lIns="91424" tIns="91424" rIns="91424" bIns="91424" anchor="t" anchorCtr="0">
            <a:noAutofit/>
          </a:bodyPr>
          <a:lstStyle/>
          <a:p>
            <a:pPr marL="0" lvl="0" indent="0" algn="l" rtl="0">
              <a:lnSpc>
                <a:spcPct val="100000"/>
              </a:lnSpc>
              <a:spcBef>
                <a:spcPts val="0"/>
              </a:spcBef>
              <a:spcAft>
                <a:spcPts val="0"/>
              </a:spcAft>
              <a:buSzPct val="25000"/>
              <a:buNone/>
              <a:defRPr/>
            </a:pPr>
            <a:endParaRPr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1" name="Google Shape;101;p2: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w="sm" len="sm"/>
            <a:tailEnd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wrap="square" lIns="91424" tIns="91424" rIns="91424" bIns="91424" anchor="t" anchorCtr="0">
            <a:noAutofit/>
          </a:bodyPr>
          <a:lstStyle/>
          <a:p>
            <a:pPr marL="0" lvl="0" indent="0" algn="l" rtl="0">
              <a:lnSpc>
                <a:spcPct val="100000"/>
              </a:lnSpc>
              <a:spcBef>
                <a:spcPts val="0"/>
              </a:spcBef>
              <a:spcAft>
                <a:spcPts val="0"/>
              </a:spcAft>
              <a:buSzPct val="25000"/>
              <a:buNone/>
              <a:defRPr/>
            </a:pPr>
            <a:endParaRPr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8" name="Google Shape;168;p4:notes"/>
          <p:cNvSpPr>
            <a:spLocks noGrp="1" noRot="1" noChangeAspect="1" noTextEdi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w="sm" len="sm"/>
            <a:tailEnd w="sm" len="sm"/>
          </a:ln>
        </p:spPr>
      </p:sp>
      <p:sp>
        <p:nvSpPr>
          <p:cNvPr id="169" name="Google Shape;169;p4:notes"/>
          <p:cNvSpPr txBox="1">
            <a:spLocks noGrp="1"/>
          </p:cNvSpPr>
          <p:nvPr>
            <p:ph type="body" idx="1"/>
          </p:nvPr>
        </p:nvSpPr>
        <p:spPr>
          <a:xfrm>
            <a:off x="685800" y="4343400"/>
            <a:ext cx="5486400" cy="4114800"/>
          </a:xfrm>
          <a:prstGeom prst="rect">
            <a:avLst/>
          </a:prstGeom>
          <a:noFill/>
          <a:ln>
            <a:noFill/>
          </a:ln>
        </p:spPr>
        <p:txBody>
          <a:bodyPr wrap="square" lIns="91424" tIns="91424" rIns="91424" bIns="91424" anchor="t" anchorCtr="0">
            <a:noAutofit/>
          </a:bodyPr>
          <a:lstStyle/>
          <a:p>
            <a:pPr marL="0" lvl="0" indent="0" algn="l" rtl="0">
              <a:lnSpc>
                <a:spcPct val="100000"/>
              </a:lnSpc>
              <a:spcBef>
                <a:spcPts val="0"/>
              </a:spcBef>
              <a:spcAft>
                <a:spcPts val="0"/>
              </a:spcAft>
              <a:buSzPct val="25000"/>
              <a:buNone/>
              <a:defRPr/>
            </a:pPr>
            <a:endParaRPr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3;n"/>
          <p:cNvSpPr>
            <a:spLocks noGrp="1" noRot="1" noChangeAspect="1" noTextEdit="1"/>
          </p:cNvSpPr>
          <p:nvPr>
            <p:ph type="sldImg" idx="2"/>
          </p:nvPr>
        </p:nvSpPr>
        <p:spPr/>
        <p:txBody>
          <a:bodyPr/>
          <a:lstStyle/>
          <a:p>
            <a:pPr>
              <a:defRPr/>
            </a:pPr>
            <a:endParaRPr lang="ja-JP" altLang="en-US"/>
          </a:p>
        </p:txBody>
      </p:sp>
      <p:sp>
        <p:nvSpPr>
          <p:cNvPr id="3" name="Google Shape;4;n"/>
          <p:cNvSpPr>
            <a:spLocks noGrp="1"/>
          </p:cNvSpPr>
          <p:nvPr>
            <p:ph type="body" idx="1"/>
          </p:nvPr>
        </p:nvSpPr>
        <p:spPr/>
        <p:txBody>
          <a:bodyPr/>
          <a:lstStyle/>
          <a:p>
            <a:pPr>
              <a:defRPr/>
            </a:pPr>
            <a:endParaRPr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セクション ヘッダー 1">
  <p:cSld name="SECTION_HEADER_1">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276225" y="2566988"/>
            <a:ext cx="8591550" cy="9525"/>
          </a:xfrm>
          <a:prstGeom prst="rect">
            <a:avLst/>
          </a:prstGeom>
          <a:noFill/>
          <a:ln>
            <a:noFill/>
          </a:ln>
        </p:spPr>
      </p:pic>
      <p:sp>
        <p:nvSpPr>
          <p:cNvPr id="11" name="Google Shape;11;p2"/>
          <p:cNvSpPr txBox="1"/>
          <p:nvPr/>
        </p:nvSpPr>
        <p:spPr>
          <a:xfrm>
            <a:off x="347404" y="2065919"/>
            <a:ext cx="5198700" cy="433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rgbClr val="434343"/>
              </a:solidFill>
              <a:latin typeface="MS PGothic"/>
              <a:ea typeface="MS PGothic"/>
              <a:cs typeface="MS PGothic"/>
              <a:sym typeface="MS PGothic"/>
            </a:endParaRPr>
          </a:p>
        </p:txBody>
      </p:sp>
      <p:sp>
        <p:nvSpPr>
          <p:cNvPr id="12" name="Google Shape;12;p2"/>
          <p:cNvSpPr txBox="1"/>
          <p:nvPr/>
        </p:nvSpPr>
        <p:spPr>
          <a:xfrm>
            <a:off x="370975" y="2607075"/>
            <a:ext cx="2599800" cy="2685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endParaRPr sz="1400" b="0" i="0" u="none" strike="noStrike" cap="none">
              <a:solidFill>
                <a:srgbClr val="000000"/>
              </a:solidFill>
              <a:latin typeface="MS PGothic"/>
              <a:ea typeface="MS PGothic"/>
              <a:cs typeface="MS PGothic"/>
              <a:sym typeface="MS PGothic"/>
            </a:endParaRPr>
          </a:p>
        </p:txBody>
      </p:sp>
      <p:pic>
        <p:nvPicPr>
          <p:cNvPr id="13" name="Google Shape;13;p2"/>
          <p:cNvPicPr preferRelativeResize="0"/>
          <p:nvPr/>
        </p:nvPicPr>
        <p:blipFill rotWithShape="1">
          <a:blip r:embed="rId3">
            <a:alphaModFix/>
          </a:blip>
          <a:srcRect/>
          <a:stretch/>
        </p:blipFill>
        <p:spPr>
          <a:xfrm>
            <a:off x="8757011" y="4892212"/>
            <a:ext cx="390525" cy="152400"/>
          </a:xfrm>
          <a:prstGeom prst="rect">
            <a:avLst/>
          </a:prstGeom>
          <a:noFill/>
          <a:ln>
            <a:noFill/>
          </a:ln>
        </p:spPr>
      </p:pic>
      <p:sp>
        <p:nvSpPr>
          <p:cNvPr id="14" name="Google Shape;14;p2"/>
          <p:cNvSpPr txBox="1"/>
          <p:nvPr/>
        </p:nvSpPr>
        <p:spPr>
          <a:xfrm>
            <a:off x="8472458" y="4773879"/>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ja-JP" sz="800" b="0" i="0" u="none" strike="noStrike" cap="none">
                <a:solidFill>
                  <a:srgbClr val="FFFFFF"/>
                </a:solidFill>
                <a:latin typeface="Arial"/>
                <a:ea typeface="Arial"/>
                <a:cs typeface="Arial"/>
                <a:sym typeface="Arial"/>
              </a:rPr>
              <a:t>‹#›</a:t>
            </a:fld>
            <a:endParaRPr sz="800" b="0" i="0" u="none" strike="noStrike" cap="none">
              <a:solidFill>
                <a:srgbClr val="FFFFFF"/>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 スライド 1">
  <p:cSld name="TITLE_1">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0" y="1713"/>
            <a:ext cx="9144000" cy="5143497"/>
          </a:xfrm>
          <a:prstGeom prst="rect">
            <a:avLst/>
          </a:prstGeom>
          <a:noFill/>
          <a:ln>
            <a:noFill/>
          </a:ln>
        </p:spPr>
      </p:pic>
      <p:pic>
        <p:nvPicPr>
          <p:cNvPr id="17" name="Google Shape;17;p3"/>
          <p:cNvPicPr preferRelativeResize="0"/>
          <p:nvPr/>
        </p:nvPicPr>
        <p:blipFill rotWithShape="1">
          <a:blip r:embed="rId3">
            <a:alphaModFix/>
          </a:blip>
          <a:srcRect/>
          <a:stretch/>
        </p:blipFill>
        <p:spPr>
          <a:xfrm>
            <a:off x="8757011" y="4892212"/>
            <a:ext cx="390525" cy="152400"/>
          </a:xfrm>
          <a:prstGeom prst="rect">
            <a:avLst/>
          </a:prstGeom>
          <a:noFill/>
          <a:ln>
            <a:noFill/>
          </a:ln>
        </p:spPr>
      </p:pic>
      <p:sp>
        <p:nvSpPr>
          <p:cNvPr id="18" name="Google Shape;18;p3"/>
          <p:cNvSpPr txBox="1"/>
          <p:nvPr/>
        </p:nvSpPr>
        <p:spPr>
          <a:xfrm>
            <a:off x="8472458" y="4773879"/>
            <a:ext cx="548700" cy="3936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ja-JP" sz="800" b="0" i="0" u="none" strike="noStrike" cap="none">
                <a:solidFill>
                  <a:srgbClr val="FFFFFF"/>
                </a:solidFill>
                <a:latin typeface="Arial"/>
                <a:ea typeface="Arial"/>
                <a:cs typeface="Arial"/>
                <a:sym typeface="Arial"/>
              </a:rPr>
              <a:t>‹#›</a:t>
            </a:fld>
            <a:endParaRPr sz="800" b="0" i="0" u="none" strike="noStrike" cap="none">
              <a:solidFill>
                <a:srgbClr val="FFFFFF"/>
              </a:solidFill>
              <a:latin typeface="Arial"/>
              <a:ea typeface="Arial"/>
              <a:cs typeface="Arial"/>
              <a:sym typeface="Arial"/>
            </a:endParaRPr>
          </a:p>
        </p:txBody>
      </p:sp>
      <p:pic>
        <p:nvPicPr>
          <p:cNvPr id="19" name="Google Shape;19;p3"/>
          <p:cNvPicPr preferRelativeResize="0"/>
          <p:nvPr/>
        </p:nvPicPr>
        <p:blipFill rotWithShape="1">
          <a:blip r:embed="rId4">
            <a:alphaModFix/>
          </a:blip>
          <a:srcRect/>
          <a:stretch/>
        </p:blipFill>
        <p:spPr>
          <a:xfrm>
            <a:off x="344950" y="616963"/>
            <a:ext cx="2152650" cy="28575"/>
          </a:xfrm>
          <a:prstGeom prst="rect">
            <a:avLst/>
          </a:prstGeom>
          <a:noFill/>
          <a:ln>
            <a:noFill/>
          </a:ln>
        </p:spPr>
      </p:pic>
      <p:pic>
        <p:nvPicPr>
          <p:cNvPr id="20" name="Google Shape;20;p3"/>
          <p:cNvPicPr preferRelativeResize="0"/>
          <p:nvPr/>
        </p:nvPicPr>
        <p:blipFill rotWithShape="1">
          <a:blip r:embed="rId5">
            <a:alphaModFix/>
          </a:blip>
          <a:srcRect/>
          <a:stretch/>
        </p:blipFill>
        <p:spPr>
          <a:xfrm>
            <a:off x="7783338" y="256320"/>
            <a:ext cx="1102642" cy="393600"/>
          </a:xfrm>
          <a:prstGeom prst="rect">
            <a:avLst/>
          </a:prstGeom>
          <a:noFill/>
          <a:ln>
            <a:noFill/>
          </a:ln>
        </p:spPr>
      </p:pic>
      <p:sp>
        <p:nvSpPr>
          <p:cNvPr id="21" name="Google Shape;21;p3"/>
          <p:cNvSpPr txBox="1"/>
          <p:nvPr/>
        </p:nvSpPr>
        <p:spPr>
          <a:xfrm>
            <a:off x="294777" y="197648"/>
            <a:ext cx="5198700" cy="433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434343"/>
              </a:solidFill>
              <a:latin typeface="MS PGothic"/>
              <a:ea typeface="MS PGothic"/>
              <a:cs typeface="MS PGothic"/>
              <a:sym typeface="MS PGothic"/>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22"/>
        <p:cNvGrpSpPr/>
        <p:nvPr/>
      </p:nvGrpSpPr>
      <p:grpSpPr>
        <a:xfrm>
          <a:off x="0" y="0"/>
          <a:ext cx="0" cy="0"/>
          <a:chOff x="0" y="0"/>
          <a:chExt cx="0" cy="0"/>
        </a:xfrm>
      </p:grpSpPr>
      <p:sp>
        <p:nvSpPr>
          <p:cNvPr id="23" name="Google Shape;23;p4"/>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 name="Google Shape;24;p4"/>
          <p:cNvGrpSpPr/>
          <p:nvPr/>
        </p:nvGrpSpPr>
        <p:grpSpPr>
          <a:xfrm>
            <a:off x="830392" y="1191256"/>
            <a:ext cx="745763" cy="45826"/>
            <a:chOff x="4580561" y="2589004"/>
            <a:chExt cx="1064464" cy="25200"/>
          </a:xfrm>
        </p:grpSpPr>
        <p:sp>
          <p:nvSpPr>
            <p:cNvPr id="25" name="Google Shape;25;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7" name="Google Shape;27;p4"/>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8" name="Google Shape;28;p4"/>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9" name="Google Shape;29;p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30"/>
        <p:cNvGrpSpPr/>
        <p:nvPr/>
      </p:nvGrpSpPr>
      <p:grpSpPr>
        <a:xfrm>
          <a:off x="0" y="0"/>
          <a:ext cx="0" cy="0"/>
          <a:chOff x="0" y="0"/>
          <a:chExt cx="0" cy="0"/>
        </a:xfrm>
      </p:grpSpPr>
      <p:grpSp>
        <p:nvGrpSpPr>
          <p:cNvPr id="31" name="Google Shape;31;p5"/>
          <p:cNvGrpSpPr/>
          <p:nvPr/>
        </p:nvGrpSpPr>
        <p:grpSpPr>
          <a:xfrm>
            <a:off x="830392" y="1191256"/>
            <a:ext cx="745763" cy="45826"/>
            <a:chOff x="4580561" y="2589004"/>
            <a:chExt cx="1064464" cy="25200"/>
          </a:xfrm>
        </p:grpSpPr>
        <p:sp>
          <p:nvSpPr>
            <p:cNvPr id="32" name="Google Shape;32;p5"/>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5"/>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 name="Google Shape;34;p5"/>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35" name="Google Shape;35;p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6"/>
        <p:cNvGrpSpPr/>
        <p:nvPr/>
      </p:nvGrpSpPr>
      <p:grpSpPr>
        <a:xfrm>
          <a:off x="0" y="0"/>
          <a:ext cx="0" cy="0"/>
          <a:chOff x="0" y="0"/>
          <a:chExt cx="0" cy="0"/>
        </a:xfrm>
      </p:grpSpPr>
      <p:sp>
        <p:nvSpPr>
          <p:cNvPr id="37" name="Google Shape;37;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8" name="Google Shape;38;p6"/>
          <p:cNvGrpSpPr/>
          <p:nvPr/>
        </p:nvGrpSpPr>
        <p:grpSpPr>
          <a:xfrm>
            <a:off x="830392" y="1191256"/>
            <a:ext cx="745763" cy="45826"/>
            <a:chOff x="4580561" y="2589004"/>
            <a:chExt cx="1064464" cy="25200"/>
          </a:xfrm>
        </p:grpSpPr>
        <p:sp>
          <p:nvSpPr>
            <p:cNvPr id="39" name="Google Shape;39;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6"/>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2" name="Google Shape;42;p6"/>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3" name="Google Shape;43;p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4"/>
        <p:cNvGrpSpPr/>
        <p:nvPr/>
      </p:nvGrpSpPr>
      <p:grpSpPr>
        <a:xfrm>
          <a:off x="0" y="0"/>
          <a:ext cx="0" cy="0"/>
          <a:chOff x="0" y="0"/>
          <a:chExt cx="0" cy="0"/>
        </a:xfrm>
      </p:grpSpPr>
      <p:sp>
        <p:nvSpPr>
          <p:cNvPr id="45" name="Google Shape;45;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6" name="Google Shape;46;p7"/>
          <p:cNvGrpSpPr/>
          <p:nvPr/>
        </p:nvGrpSpPr>
        <p:grpSpPr>
          <a:xfrm>
            <a:off x="830392" y="1191256"/>
            <a:ext cx="745763" cy="45826"/>
            <a:chOff x="4580561" y="2589004"/>
            <a:chExt cx="1064464" cy="25200"/>
          </a:xfrm>
        </p:grpSpPr>
        <p:sp>
          <p:nvSpPr>
            <p:cNvPr id="47" name="Google Shape;47;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 name="Google Shape;48;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9" name="Google Shape;49;p7"/>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0" name="Google Shape;50;p7"/>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1" name="Google Shape;51;p7"/>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52" name="Google Shape;52;p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5" name="Google Shape;55;p8"/>
          <p:cNvGrpSpPr/>
          <p:nvPr/>
        </p:nvGrpSpPr>
        <p:grpSpPr>
          <a:xfrm>
            <a:off x="830392" y="1191256"/>
            <a:ext cx="745763" cy="45826"/>
            <a:chOff x="4580561" y="2589004"/>
            <a:chExt cx="1064464" cy="25200"/>
          </a:xfrm>
        </p:grpSpPr>
        <p:sp>
          <p:nvSpPr>
            <p:cNvPr id="56" name="Google Shape;56;p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8" name="Google Shape;58;p8"/>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9" name="Google Shape;59;p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0"/>
        <p:cNvGrpSpPr/>
        <p:nvPr/>
      </p:nvGrpSpPr>
      <p:grpSpPr>
        <a:xfrm>
          <a:off x="0" y="0"/>
          <a:ext cx="0" cy="0"/>
          <a:chOff x="0" y="0"/>
          <a:chExt cx="0" cy="0"/>
        </a:xfrm>
      </p:grpSpPr>
      <p:sp>
        <p:nvSpPr>
          <p:cNvPr id="61" name="Google Shape;61;p9"/>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9"/>
          <p:cNvGrpSpPr/>
          <p:nvPr/>
        </p:nvGrpSpPr>
        <p:grpSpPr>
          <a:xfrm>
            <a:off x="830392" y="1191256"/>
            <a:ext cx="745763" cy="45826"/>
            <a:chOff x="4580561" y="2589004"/>
            <a:chExt cx="1064464" cy="25200"/>
          </a:xfrm>
        </p:grpSpPr>
        <p:sp>
          <p:nvSpPr>
            <p:cNvPr id="63" name="Google Shape;63;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5" name="Google Shape;65;p9"/>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6" name="Google Shape;66;p9"/>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7" name="Google Shape;67;p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8"/>
        <p:cNvGrpSpPr/>
        <p:nvPr/>
      </p:nvGrpSpPr>
      <p:grpSpPr>
        <a:xfrm>
          <a:off x="0" y="0"/>
          <a:ext cx="0" cy="0"/>
          <a:chOff x="0" y="0"/>
          <a:chExt cx="0" cy="0"/>
        </a:xfrm>
      </p:grpSpPr>
      <p:grpSp>
        <p:nvGrpSpPr>
          <p:cNvPr id="69" name="Google Shape;69;p10"/>
          <p:cNvGrpSpPr/>
          <p:nvPr/>
        </p:nvGrpSpPr>
        <p:grpSpPr>
          <a:xfrm>
            <a:off x="830392" y="4169130"/>
            <a:ext cx="745763" cy="45826"/>
            <a:chOff x="4580561" y="2589004"/>
            <a:chExt cx="1064464" cy="25200"/>
          </a:xfrm>
        </p:grpSpPr>
        <p:sp>
          <p:nvSpPr>
            <p:cNvPr id="70" name="Google Shape;70;p1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1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2" name="Google Shape;72;p10"/>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73" name="Google Shape;73;p1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4"/>
        <p:cNvGrpSpPr/>
        <p:nvPr/>
      </p:nvGrpSpPr>
      <p:grpSpPr>
        <a:xfrm>
          <a:off x="0" y="0"/>
          <a:ext cx="0" cy="0"/>
          <a:chOff x="0" y="0"/>
          <a:chExt cx="0" cy="0"/>
        </a:xfrm>
      </p:grpSpPr>
      <p:sp>
        <p:nvSpPr>
          <p:cNvPr id="75" name="Google Shape;75;p11"/>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6" name="Google Shape;76;p11"/>
          <p:cNvGrpSpPr/>
          <p:nvPr/>
        </p:nvGrpSpPr>
        <p:grpSpPr>
          <a:xfrm>
            <a:off x="830392" y="1191256"/>
            <a:ext cx="745763" cy="45826"/>
            <a:chOff x="4580561" y="2589004"/>
            <a:chExt cx="1064464" cy="25200"/>
          </a:xfrm>
        </p:grpSpPr>
        <p:sp>
          <p:nvSpPr>
            <p:cNvPr id="77" name="Google Shape;77;p1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9" name="Google Shape;79;p11"/>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80" name="Google Shape;80;p11"/>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81" name="Google Shape;81;p11"/>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82" name="Google Shape;82;p1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12"/>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85" name="Google Shape;85;p1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6"/>
        <p:cNvGrpSpPr/>
        <p:nvPr/>
      </p:nvGrpSpPr>
      <p:grpSpPr>
        <a:xfrm>
          <a:off x="0" y="0"/>
          <a:ext cx="0" cy="0"/>
          <a:chOff x="0" y="0"/>
          <a:chExt cx="0" cy="0"/>
        </a:xfrm>
      </p:grpSpPr>
      <p:grpSp>
        <p:nvGrpSpPr>
          <p:cNvPr id="87" name="Google Shape;87;p13"/>
          <p:cNvGrpSpPr/>
          <p:nvPr/>
        </p:nvGrpSpPr>
        <p:grpSpPr>
          <a:xfrm>
            <a:off x="830392" y="4169130"/>
            <a:ext cx="745763" cy="45826"/>
            <a:chOff x="4580561" y="2589004"/>
            <a:chExt cx="1064464" cy="25200"/>
          </a:xfrm>
        </p:grpSpPr>
        <p:sp>
          <p:nvSpPr>
            <p:cNvPr id="88" name="Google Shape;88;p1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0" name="Google Shape;90;p13"/>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91" name="Google Shape;91;p13"/>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92" name="Google Shape;92;p1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1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1pPr>
            <a:lvl2pPr marR="0" lvl="1"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2pPr>
            <a:lvl3pPr marR="0" lvl="2"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3pPr>
            <a:lvl4pPr marR="0" lvl="3"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4pPr>
            <a:lvl5pPr marR="0" lvl="4"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5pPr>
            <a:lvl6pPr marR="0" lvl="5"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6pPr>
            <a:lvl7pPr marR="0" lvl="6"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7pPr>
            <a:lvl8pPr marR="0" lvl="7"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8pPr>
            <a:lvl9pPr marR="0" lvl="8" algn="l" rtl="0">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image" Target="../media/image29.png"/><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Google Shape;99;p15"/>
          <p:cNvSpPr txBox="1"/>
          <p:nvPr/>
        </p:nvSpPr>
        <p:spPr>
          <a:xfrm>
            <a:off x="379822" y="984923"/>
            <a:ext cx="7471332" cy="1586826"/>
          </a:xfrm>
          <a:prstGeom prst="rect">
            <a:avLst/>
          </a:prstGeom>
          <a:noFill/>
          <a:ln>
            <a:noFill/>
          </a:ln>
        </p:spPr>
        <p:txBody>
          <a:bodyPr wrap="square" lIns="91425" tIns="91425" rIns="91425" bIns="91425"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r>
              <a:rPr lang="ja-JP" sz="3200" b="0" i="0" u="none" strike="noStrike" cap="none">
                <a:solidFill>
                  <a:srgbClr val="434343"/>
                </a:solidFill>
                <a:latin typeface="ＭＳ Ｐゴシック"/>
                <a:ea typeface="ＭＳ Ｐゴシック"/>
                <a:cs typeface="ＭＳ Ｐゴシック"/>
                <a:sym typeface="ＭＳ Ｐゴシック"/>
              </a:rPr>
              <a:t>自走期間成果物</a:t>
            </a:r>
          </a:p>
          <a:p>
            <a:pPr marL="0" marR="0" lvl="0" indent="0" algn="l" rtl="0">
              <a:lnSpc>
                <a:spcPct val="100000"/>
              </a:lnSpc>
              <a:spcBef>
                <a:spcPts val="0"/>
              </a:spcBef>
              <a:spcAft>
                <a:spcPts val="0"/>
              </a:spcAft>
              <a:buClr>
                <a:srgbClr val="000000"/>
              </a:buClr>
              <a:buSzPct val="25000"/>
              <a:buFont typeface="Arial"/>
              <a:buNone/>
              <a:defRPr/>
            </a:pPr>
            <a:endParaRPr lang="ja-JP" sz="3200" b="0" i="0" u="none" strike="noStrike" cap="none">
              <a:solidFill>
                <a:srgbClr val="434343"/>
              </a:solidFill>
              <a:latin typeface="ＭＳ Ｐゴシック"/>
              <a:ea typeface="ＭＳ Ｐゴシック"/>
              <a:cs typeface="ＭＳ Ｐゴシック"/>
              <a:sym typeface="ＭＳ Ｐゴシック"/>
            </a:endParaRPr>
          </a:p>
          <a:p>
            <a:pPr marL="0" marR="0" lvl="0" indent="0" algn="l" rtl="0">
              <a:lnSpc>
                <a:spcPct val="100000"/>
              </a:lnSpc>
              <a:spcBef>
                <a:spcPts val="0"/>
              </a:spcBef>
              <a:spcAft>
                <a:spcPts val="0"/>
              </a:spcAft>
              <a:buClr>
                <a:srgbClr val="000000"/>
              </a:buClr>
              <a:buSzPct val="25000"/>
              <a:buFont typeface="Arial"/>
              <a:buNone/>
              <a:defRPr/>
            </a:pPr>
            <a:r>
              <a:rPr lang="ja-JP" altLang="en-US" sz="3200" b="0" i="0" u="none" strike="noStrike" cap="none">
                <a:solidFill>
                  <a:srgbClr val="0000FF"/>
                </a:solidFill>
                <a:latin typeface="ＭＳ Ｐゴシック"/>
                <a:ea typeface="ＭＳ Ｐゴシック"/>
                <a:cs typeface="ＭＳ Ｐゴシック"/>
                <a:sym typeface="ＭＳ Ｐゴシック"/>
              </a:rPr>
              <a:t>自動作曲AI＠多層LSTM・４出力モデル</a:t>
            </a:r>
          </a:p>
        </p:txBody>
      </p:sp>
      <p:sp>
        <p:nvSpPr>
          <p:cNvPr id="100" name="Google Shape;99;p15"/>
          <p:cNvSpPr txBox="1"/>
          <p:nvPr/>
        </p:nvSpPr>
        <p:spPr>
          <a:xfrm>
            <a:off x="5159035" y="3165647"/>
            <a:ext cx="3544357" cy="935116"/>
          </a:xfrm>
          <a:prstGeom prst="rect">
            <a:avLst/>
          </a:prstGeom>
          <a:noFill/>
          <a:ln>
            <a:noFill/>
          </a:ln>
        </p:spPr>
        <p:txBody>
          <a:bodyPr wrap="square" lIns="91425" tIns="91425" rIns="91425" bIns="91425" anchor="ctr" anchorCtr="0">
            <a:noAutofit/>
          </a:bodyPr>
          <a:lstStyle/>
          <a:p>
            <a:pPr marL="0" marR="0" lvl="0" indent="0" algn="r" rtl="0">
              <a:lnSpc>
                <a:spcPct val="100000"/>
              </a:lnSpc>
              <a:spcBef>
                <a:spcPts val="0"/>
              </a:spcBef>
              <a:spcAft>
                <a:spcPts val="0"/>
              </a:spcAft>
              <a:buClr>
                <a:srgbClr val="000000"/>
              </a:buClr>
              <a:buSzPct val="25000"/>
              <a:buFont typeface="Arial"/>
              <a:buNone/>
              <a:defRPr/>
            </a:pPr>
            <a:r>
              <a:rPr lang="en-US" altLang="ja-JP" sz="2600" b="0" i="0" u="none" strike="noStrike" cap="none" dirty="0">
                <a:solidFill>
                  <a:srgbClr val="434343"/>
                </a:solidFill>
                <a:latin typeface="ＭＳ Ｐゴシック"/>
                <a:ea typeface="ＭＳ Ｐゴシック"/>
                <a:cs typeface="ＭＳ Ｐゴシック"/>
                <a:sym typeface="ＭＳ Ｐゴシック"/>
              </a:rPr>
              <a:t>2022/3</a:t>
            </a:r>
            <a:r>
              <a:rPr lang="ja-JP" altLang="en-US" sz="2600" b="0" i="0" u="none" strike="noStrike" cap="none" dirty="0">
                <a:solidFill>
                  <a:srgbClr val="434343"/>
                </a:solidFill>
                <a:latin typeface="ＭＳ Ｐゴシック"/>
                <a:ea typeface="ＭＳ Ｐゴシック"/>
                <a:cs typeface="ＭＳ Ｐゴシック"/>
                <a:sym typeface="ＭＳ Ｐゴシック"/>
              </a:rPr>
              <a:t>月期</a:t>
            </a:r>
          </a:p>
          <a:p>
            <a:pPr marL="0" marR="0" lvl="0" indent="0" algn="r" rtl="0">
              <a:lnSpc>
                <a:spcPct val="100000"/>
              </a:lnSpc>
              <a:spcBef>
                <a:spcPts val="0"/>
              </a:spcBef>
              <a:spcAft>
                <a:spcPts val="0"/>
              </a:spcAft>
              <a:buClr>
                <a:srgbClr val="000000"/>
              </a:buClr>
              <a:buSzPct val="25000"/>
              <a:buFont typeface="Arial"/>
              <a:buNone/>
              <a:defRPr/>
            </a:pPr>
            <a:r>
              <a:rPr lang="en-US" altLang="ja-JP" sz="2600" b="0" i="0" u="none" strike="noStrike" cap="none" dirty="0">
                <a:solidFill>
                  <a:srgbClr val="434343"/>
                </a:solidFill>
                <a:latin typeface="ＭＳ Ｐゴシック"/>
                <a:ea typeface="ＭＳ Ｐゴシック"/>
                <a:cs typeface="ＭＳ Ｐゴシック"/>
                <a:sym typeface="ＭＳ Ｐゴシック"/>
              </a:rPr>
              <a:t>22/9/24</a:t>
            </a:r>
            <a:r>
              <a:rPr lang="ja-JP" altLang="en-US" sz="2600" b="0" i="0" u="none" strike="noStrike" cap="none" dirty="0">
                <a:solidFill>
                  <a:srgbClr val="434343"/>
                </a:solidFill>
                <a:latin typeface="ＭＳ Ｐゴシック"/>
                <a:ea typeface="ＭＳ Ｐゴシック"/>
                <a:cs typeface="ＭＳ Ｐゴシック"/>
                <a:sym typeface="ＭＳ Ｐゴシック"/>
              </a:rPr>
              <a:t> </a:t>
            </a:r>
            <a:r>
              <a:rPr lang="en-US" altLang="ja-JP" sz="2600" b="0" i="0" u="none" strike="noStrike" cap="none" dirty="0">
                <a:solidFill>
                  <a:srgbClr val="434343"/>
                </a:solidFill>
                <a:latin typeface="ＭＳ Ｐゴシック"/>
                <a:ea typeface="ＭＳ Ｐゴシック"/>
                <a:cs typeface="ＭＳ Ｐゴシック"/>
                <a:sym typeface="ＭＳ Ｐゴシック"/>
              </a:rPr>
              <a:t>K.U</a:t>
            </a:r>
            <a:endParaRPr lang="ja-JP" altLang="en-US" sz="2600" b="0" i="0" u="none" strike="noStrike" cap="none" dirty="0">
              <a:solidFill>
                <a:srgbClr val="434343"/>
              </a:solidFill>
              <a:latin typeface="ＭＳ Ｐゴシック"/>
              <a:ea typeface="ＭＳ Ｐゴシック"/>
              <a:cs typeface="ＭＳ Ｐゴシック"/>
              <a:sym typeface="ＭＳ Ｐゴシック"/>
            </a:endParaRPr>
          </a:p>
        </p:txBody>
      </p:sp>
      <p:pic>
        <p:nvPicPr>
          <p:cNvPr id="101" name="図 100"/>
          <p:cNvPicPr>
            <a:picLocks noChangeAspect="1"/>
          </p:cNvPicPr>
          <p:nvPr/>
        </p:nvPicPr>
        <p:blipFill rotWithShape="1">
          <a:blip r:embed="rId3"/>
          <a:stretch>
            <a:fillRect/>
          </a:stretch>
        </p:blipFill>
        <p:spPr>
          <a:xfrm>
            <a:off x="576737" y="2738855"/>
            <a:ext cx="1705946" cy="2274595"/>
          </a:xfrm>
          <a:prstGeom prst="rect">
            <a:avLst/>
          </a:prstGeom>
        </p:spPr>
      </p:pic>
      <p:pic>
        <p:nvPicPr>
          <p:cNvPr id="103" name="図 102"/>
          <p:cNvPicPr>
            <a:picLocks noChangeAspect="1"/>
          </p:cNvPicPr>
          <p:nvPr/>
        </p:nvPicPr>
        <p:blipFill rotWithShape="1">
          <a:blip r:embed="rId4"/>
          <a:stretch>
            <a:fillRect/>
          </a:stretch>
        </p:blipFill>
        <p:spPr>
          <a:xfrm>
            <a:off x="2325322" y="2737787"/>
            <a:ext cx="2424078" cy="2270357"/>
          </a:xfrm>
          <a:prstGeom prst="rect">
            <a:avLst/>
          </a:prstGeom>
        </p:spPr>
      </p:pic>
      <p:sp>
        <p:nvSpPr>
          <p:cNvPr id="104" name="Google Shape;99;p15"/>
          <p:cNvSpPr txBox="1"/>
          <p:nvPr/>
        </p:nvSpPr>
        <p:spPr>
          <a:xfrm>
            <a:off x="4741271" y="4467397"/>
            <a:ext cx="2633635" cy="676103"/>
          </a:xfrm>
          <a:prstGeom prst="rect">
            <a:avLst/>
          </a:prstGeom>
          <a:noFill/>
          <a:ln>
            <a:noFill/>
          </a:ln>
        </p:spPr>
        <p:txBody>
          <a:bodyPr wrap="square" lIns="91425" tIns="91425" rIns="91425" bIns="91425" anchor="ctr" anchorCtr="0">
            <a:noAutofit/>
          </a:bodyPr>
          <a:lstStyle/>
          <a:p>
            <a:pPr marL="0" marR="0" lvl="0" indent="0" rtl="0">
              <a:lnSpc>
                <a:spcPct val="100000"/>
              </a:lnSpc>
              <a:spcBef>
                <a:spcPts val="0"/>
              </a:spcBef>
              <a:spcAft>
                <a:spcPts val="0"/>
              </a:spcAft>
              <a:buClr>
                <a:srgbClr val="000000"/>
              </a:buClr>
              <a:buSzPct val="25000"/>
              <a:buFont typeface="Arial"/>
              <a:buNone/>
              <a:defRPr/>
            </a:pPr>
            <a:r>
              <a:rPr lang="ja-JP" altLang="en-US" b="0" i="0" u="none" strike="noStrike" cap="none">
                <a:solidFill>
                  <a:srgbClr val="434343"/>
                </a:solidFill>
                <a:latin typeface="ＭＳ Ｐゴシック"/>
                <a:ea typeface="ＭＳ Ｐゴシック"/>
                <a:cs typeface="ＭＳ Ｐゴシック"/>
                <a:sym typeface="ＭＳ Ｐゴシック"/>
              </a:rPr>
              <a:t>←まったく出番なし</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oogle Shape;104;p16"/>
          <p:cNvGrpSpPr/>
          <p:nvPr/>
        </p:nvGrpSpPr>
        <p:grpSpPr>
          <a:xfrm>
            <a:off x="408775" y="927775"/>
            <a:ext cx="8279725" cy="3717300"/>
            <a:chOff x="408775" y="927775"/>
            <a:chExt cx="8279725" cy="3717300"/>
          </a:xfrm>
        </p:grpSpPr>
        <p:grpSp>
          <p:nvGrpSpPr>
            <p:cNvPr id="105" name="Google Shape;105;p16"/>
            <p:cNvGrpSpPr/>
            <p:nvPr/>
          </p:nvGrpSpPr>
          <p:grpSpPr>
            <a:xfrm>
              <a:off x="408775" y="927775"/>
              <a:ext cx="8279725" cy="3717300"/>
              <a:chOff x="408775" y="927775"/>
              <a:chExt cx="8279725" cy="3717300"/>
            </a:xfrm>
          </p:grpSpPr>
          <p:sp>
            <p:nvSpPr>
              <p:cNvPr id="106" name="Google Shape;106;p16"/>
              <p:cNvSpPr/>
              <p:nvPr/>
            </p:nvSpPr>
            <p:spPr>
              <a:xfrm>
                <a:off x="408775" y="927775"/>
                <a:ext cx="8279700" cy="37173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07" name="Google Shape;107;p16"/>
              <p:cNvSpPr/>
              <p:nvPr/>
            </p:nvSpPr>
            <p:spPr>
              <a:xfrm>
                <a:off x="408775" y="927775"/>
                <a:ext cx="8279700" cy="7065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08" name="Google Shape;108;p16"/>
              <p:cNvSpPr/>
              <p:nvPr/>
            </p:nvSpPr>
            <p:spPr>
              <a:xfrm>
                <a:off x="408775" y="3938575"/>
                <a:ext cx="8279700" cy="7065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4740200" y="1634275"/>
                <a:ext cx="3948300" cy="23043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grpSp>
        <p:sp>
          <p:nvSpPr>
            <p:cNvPr id="110" name="Google Shape;110;p16"/>
            <p:cNvSpPr/>
            <p:nvPr/>
          </p:nvSpPr>
          <p:spPr>
            <a:xfrm>
              <a:off x="408775" y="1634275"/>
              <a:ext cx="3948300" cy="23043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grpSp>
      <p:sp>
        <p:nvSpPr>
          <p:cNvPr id="111" name="Google Shape;111;p16"/>
          <p:cNvSpPr/>
          <p:nvPr/>
        </p:nvSpPr>
        <p:spPr>
          <a:xfrm>
            <a:off x="408775" y="1826825"/>
            <a:ext cx="8055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12" name="Google Shape;112;p16"/>
          <p:cNvSpPr txBox="1"/>
          <p:nvPr/>
        </p:nvSpPr>
        <p:spPr>
          <a:xfrm>
            <a:off x="435200" y="1648000"/>
            <a:ext cx="8706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背景</a:t>
            </a:r>
            <a:endParaRPr sz="1400" b="1" i="0" u="none" strike="noStrike" cap="none">
              <a:solidFill>
                <a:schemeClr val="dk2"/>
              </a:solidFill>
              <a:latin typeface="Arial"/>
              <a:ea typeface="Arial"/>
              <a:cs typeface="Arial"/>
              <a:sym typeface="Arial"/>
            </a:endParaRPr>
          </a:p>
        </p:txBody>
      </p:sp>
      <p:sp>
        <p:nvSpPr>
          <p:cNvPr id="113" name="Google Shape;113;p16"/>
          <p:cNvSpPr/>
          <p:nvPr/>
        </p:nvSpPr>
        <p:spPr>
          <a:xfrm>
            <a:off x="408775" y="4090975"/>
            <a:ext cx="8055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468750" y="1080175"/>
            <a:ext cx="5937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15" name="Google Shape;115;p16"/>
          <p:cNvSpPr txBox="1"/>
          <p:nvPr/>
        </p:nvSpPr>
        <p:spPr>
          <a:xfrm>
            <a:off x="304134" y="226979"/>
            <a:ext cx="7071000" cy="385200"/>
          </a:xfrm>
          <a:prstGeom prst="rect">
            <a:avLst/>
          </a:prstGeom>
          <a:noFill/>
          <a:ln>
            <a:noFill/>
          </a:ln>
        </p:spPr>
        <p:txBody>
          <a:bodyPr wrap="square" lIns="91424" tIns="45700" rIns="91424" bIns="45700" anchor="t" anchorCtr="0">
            <a:noAutofit/>
          </a:bodyPr>
          <a:lstStyle/>
          <a:p>
            <a:pPr marL="0" marR="0" lvl="0" indent="0" algn="l" rtl="0">
              <a:lnSpc>
                <a:spcPct val="100000"/>
              </a:lnSpc>
              <a:spcBef>
                <a:spcPts val="0"/>
              </a:spcBef>
              <a:spcAft>
                <a:spcPts val="0"/>
              </a:spcAft>
              <a:buClr>
                <a:srgbClr val="000000"/>
              </a:buClr>
              <a:buSzPct val="25000"/>
              <a:buFont typeface="Arial"/>
              <a:buNone/>
              <a:defRPr/>
            </a:pPr>
            <a:r>
              <a:rPr lang="ja-JP" sz="2000" b="0" i="0" u="none" strike="noStrike" cap="none">
                <a:solidFill>
                  <a:srgbClr val="000000"/>
                </a:solidFill>
                <a:latin typeface="Arial"/>
                <a:ea typeface="Arial"/>
                <a:cs typeface="Arial"/>
                <a:sym typeface="Arial"/>
              </a:rPr>
              <a:t>自走期間に取り組んだ内容(Why, What)</a:t>
            </a:r>
            <a:endParaRPr sz="2000" b="0" i="0" u="none" strike="noStrike" cap="none">
              <a:solidFill>
                <a:srgbClr val="000000"/>
              </a:solidFill>
              <a:latin typeface="Arial"/>
              <a:ea typeface="Arial"/>
              <a:cs typeface="Arial"/>
              <a:sym typeface="Arial"/>
            </a:endParaRPr>
          </a:p>
        </p:txBody>
      </p:sp>
      <p:sp>
        <p:nvSpPr>
          <p:cNvPr id="116" name="Google Shape;116;p16"/>
          <p:cNvSpPr txBox="1"/>
          <p:nvPr/>
        </p:nvSpPr>
        <p:spPr>
          <a:xfrm>
            <a:off x="408775" y="927775"/>
            <a:ext cx="8706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テーマ</a:t>
            </a:r>
            <a:endParaRPr sz="1400" b="1" i="0" u="none" strike="noStrike" cap="none">
              <a:solidFill>
                <a:schemeClr val="dk2"/>
              </a:solidFill>
              <a:latin typeface="Arial"/>
              <a:ea typeface="Arial"/>
              <a:cs typeface="Arial"/>
              <a:sym typeface="Arial"/>
            </a:endParaRPr>
          </a:p>
        </p:txBody>
      </p:sp>
      <p:sp>
        <p:nvSpPr>
          <p:cNvPr id="117" name="Google Shape;117;p16"/>
          <p:cNvSpPr txBox="1"/>
          <p:nvPr/>
        </p:nvSpPr>
        <p:spPr>
          <a:xfrm>
            <a:off x="1486925" y="1136006"/>
            <a:ext cx="4079769" cy="266139"/>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altLang="en-US" sz="1800" b="0" i="0" u="none" strike="noStrike" cap="none">
                <a:solidFill>
                  <a:schemeClr val="dk2"/>
                </a:solidFill>
                <a:latin typeface="Meiryo UI"/>
                <a:ea typeface="Meiryo UI"/>
              </a:rPr>
              <a:t>フレーズを生み出す自動作曲</a:t>
            </a:r>
            <a:r>
              <a:rPr lang="ja-JP" altLang="en-US" sz="1800" b="0" i="0" u="none" strike="noStrike" cap="none">
                <a:solidFill>
                  <a:schemeClr val="dk2"/>
                </a:solidFill>
                <a:latin typeface="Meiryo UI"/>
              </a:rPr>
              <a:t>AI</a:t>
            </a:r>
            <a:r>
              <a:rPr lang="ja-JP" altLang="en-US" sz="1800" b="0" i="0" u="none" strike="noStrike" cap="none">
                <a:solidFill>
                  <a:schemeClr val="dk2"/>
                </a:solidFill>
                <a:latin typeface="Meiryo UI"/>
                <a:ea typeface="Meiryo UI"/>
              </a:rPr>
              <a:t>を作る</a:t>
            </a:r>
            <a:endParaRPr lang="ja-JP" altLang="en-US" sz="1800" b="0" i="0" u="none" strike="noStrike" cap="none">
              <a:solidFill>
                <a:schemeClr val="dk2"/>
              </a:solidFill>
              <a:latin typeface="Meiryo UI"/>
            </a:endParaRPr>
          </a:p>
        </p:txBody>
      </p:sp>
      <p:sp>
        <p:nvSpPr>
          <p:cNvPr id="118" name="Google Shape;118;p16"/>
          <p:cNvSpPr txBox="1"/>
          <p:nvPr/>
        </p:nvSpPr>
        <p:spPr>
          <a:xfrm>
            <a:off x="408775" y="3938575"/>
            <a:ext cx="8706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ゴール</a:t>
            </a:r>
            <a:endParaRPr sz="1400" b="1" i="0" u="none" strike="noStrike" cap="none">
              <a:solidFill>
                <a:schemeClr val="dk2"/>
              </a:solidFill>
              <a:latin typeface="Arial"/>
              <a:ea typeface="Arial"/>
              <a:cs typeface="Arial"/>
              <a:sym typeface="Arial"/>
            </a:endParaRPr>
          </a:p>
        </p:txBody>
      </p:sp>
      <p:sp>
        <p:nvSpPr>
          <p:cNvPr id="119" name="Google Shape;119;p16"/>
          <p:cNvSpPr/>
          <p:nvPr/>
        </p:nvSpPr>
        <p:spPr>
          <a:xfrm>
            <a:off x="4753900" y="1826825"/>
            <a:ext cx="8055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rot="5400000">
            <a:off x="3764587" y="2666500"/>
            <a:ext cx="1568100" cy="107400"/>
          </a:xfrm>
          <a:prstGeom prst="triangle">
            <a:avLst>
              <a:gd name="adj" fmla="val 53602"/>
            </a:avLst>
          </a:prstGeom>
          <a:solidFill>
            <a:srgbClr val="CFE2F3"/>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21" name="Google Shape;121;p16"/>
          <p:cNvSpPr txBox="1"/>
          <p:nvPr/>
        </p:nvSpPr>
        <p:spPr>
          <a:xfrm>
            <a:off x="4753900" y="1648000"/>
            <a:ext cx="8706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目的</a:t>
            </a:r>
            <a:endParaRPr sz="1400" b="1" i="0" u="none" strike="noStrike" cap="none">
              <a:solidFill>
                <a:schemeClr val="dk2"/>
              </a:solidFill>
              <a:latin typeface="Arial"/>
              <a:ea typeface="Arial"/>
              <a:cs typeface="Arial"/>
              <a:sym typeface="Arial"/>
            </a:endParaRPr>
          </a:p>
        </p:txBody>
      </p:sp>
      <p:sp>
        <p:nvSpPr>
          <p:cNvPr id="122" name="Google Shape;122;p16"/>
          <p:cNvSpPr txBox="1"/>
          <p:nvPr/>
        </p:nvSpPr>
        <p:spPr>
          <a:xfrm>
            <a:off x="420381" y="1990424"/>
            <a:ext cx="3980856" cy="1354021"/>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altLang="en-US" b="0" i="0" u="none" strike="noStrike" cap="none">
                <a:solidFill>
                  <a:schemeClr val="dk2"/>
                </a:solidFill>
                <a:latin typeface="Meiryo UI"/>
                <a:ea typeface="Meiryo UI"/>
              </a:rPr>
              <a:t>・ギター演奏が好きなので、</a:t>
            </a:r>
          </a:p>
          <a:p>
            <a:pPr marL="0" marR="0" lvl="0" indent="0" algn="l" rtl="0">
              <a:lnSpc>
                <a:spcPct val="90000"/>
              </a:lnSpc>
              <a:spcBef>
                <a:spcPts val="0"/>
              </a:spcBef>
              <a:spcAft>
                <a:spcPts val="0"/>
              </a:spcAft>
              <a:buClr>
                <a:srgbClr val="000000"/>
              </a:buClr>
              <a:buSzPct val="25000"/>
              <a:buFont typeface="Arial"/>
              <a:buNone/>
              <a:defRPr/>
            </a:pPr>
            <a:r>
              <a:rPr lang="ja-JP" altLang="en-US" b="0" i="0" u="none" strike="noStrike" cap="none">
                <a:solidFill>
                  <a:schemeClr val="dk2"/>
                </a:solidFill>
                <a:latin typeface="Meiryo UI"/>
                <a:ea typeface="Meiryo UI"/>
              </a:rPr>
              <a:t>　音楽関連ならばモチベーションがでる</a:t>
            </a:r>
          </a:p>
          <a:p>
            <a:pPr marL="0" marR="0" lvl="0" indent="0" algn="l" rtl="0">
              <a:lnSpc>
                <a:spcPct val="90000"/>
              </a:lnSpc>
              <a:spcBef>
                <a:spcPts val="0"/>
              </a:spcBef>
              <a:spcAft>
                <a:spcPts val="0"/>
              </a:spcAft>
              <a:buClr>
                <a:srgbClr val="000000"/>
              </a:buClr>
              <a:buSzPct val="25000"/>
              <a:buFont typeface="Arial"/>
              <a:buNone/>
              <a:defRPr/>
            </a:pPr>
            <a:endParaRPr lang="ja-JP" altLang="en-US" b="0" i="0" u="none" strike="noStrike" cap="none">
              <a:solidFill>
                <a:schemeClr val="dk2"/>
              </a:solidFill>
              <a:latin typeface="Meiryo UI"/>
              <a:ea typeface="Meiryo UI"/>
            </a:endParaRPr>
          </a:p>
          <a:p>
            <a:pPr marL="0" marR="0" lvl="0" indent="0" algn="l" rtl="0">
              <a:lnSpc>
                <a:spcPct val="90000"/>
              </a:lnSpc>
              <a:spcBef>
                <a:spcPts val="0"/>
              </a:spcBef>
              <a:spcAft>
                <a:spcPts val="0"/>
              </a:spcAft>
              <a:buClr>
                <a:srgbClr val="000000"/>
              </a:buClr>
              <a:buSzPct val="25000"/>
              <a:buFont typeface="Arial"/>
              <a:buNone/>
              <a:defRPr/>
            </a:pPr>
            <a:r>
              <a:rPr lang="ja-JP" altLang="en-US" b="0" i="0" u="none" strike="noStrike" cap="none">
                <a:solidFill>
                  <a:schemeClr val="dk2"/>
                </a:solidFill>
                <a:latin typeface="Meiryo UI"/>
                <a:ea typeface="Meiryo UI"/>
              </a:rPr>
              <a:t>･T</a:t>
            </a:r>
            <a:r>
              <a:rPr lang="ja-JP" altLang="en-US" b="0" i="0" u="none" strike="noStrike" cap="none">
                <a:solidFill>
                  <a:schemeClr val="dk2"/>
                </a:solidFill>
                <a:latin typeface="Meiryo UI"/>
              </a:rPr>
              <a:t>ensortflow</a:t>
            </a:r>
            <a:r>
              <a:rPr lang="en-US" altLang="ja-JP" b="0" i="0" u="none" strike="noStrike" cap="none">
                <a:solidFill>
                  <a:schemeClr val="dk2"/>
                </a:solidFill>
                <a:latin typeface="Meiryo UI"/>
              </a:rPr>
              <a:t>/</a:t>
            </a:r>
            <a:r>
              <a:rPr lang="ja-JP" altLang="en-US" b="0" i="0" u="none" strike="noStrike" cap="none">
                <a:solidFill>
                  <a:schemeClr val="dk2"/>
                </a:solidFill>
                <a:latin typeface="Meiryo UI"/>
              </a:rPr>
              <a:t>Keras</a:t>
            </a:r>
            <a:r>
              <a:rPr lang="ja-JP" altLang="en-US" b="0" i="0" u="none" strike="noStrike" cap="none">
                <a:solidFill>
                  <a:schemeClr val="dk2"/>
                </a:solidFill>
                <a:latin typeface="Meiryo UI"/>
                <a:ea typeface="Meiryo UI"/>
              </a:rPr>
              <a:t>を習得する必要が出た</a:t>
            </a:r>
          </a:p>
          <a:p>
            <a:pPr marL="0" marR="0" lvl="0" indent="0" algn="l" rtl="0">
              <a:lnSpc>
                <a:spcPct val="90000"/>
              </a:lnSpc>
              <a:spcBef>
                <a:spcPts val="0"/>
              </a:spcBef>
              <a:spcAft>
                <a:spcPts val="0"/>
              </a:spcAft>
              <a:buClr>
                <a:srgbClr val="000000"/>
              </a:buClr>
              <a:buSzPct val="25000"/>
              <a:buFont typeface="Arial"/>
              <a:buNone/>
              <a:defRPr/>
            </a:pPr>
            <a:endParaRPr lang="ja-JP" altLang="en-US" b="0" i="0" u="none" strike="noStrike" cap="none">
              <a:solidFill>
                <a:schemeClr val="dk2"/>
              </a:solidFill>
              <a:latin typeface="Meiryo UI"/>
              <a:ea typeface="Meiryo UI"/>
            </a:endParaRPr>
          </a:p>
        </p:txBody>
      </p:sp>
      <p:sp>
        <p:nvSpPr>
          <p:cNvPr id="125" name="Google Shape;122;p16"/>
          <p:cNvSpPr txBox="1"/>
          <p:nvPr/>
        </p:nvSpPr>
        <p:spPr>
          <a:xfrm>
            <a:off x="4751768" y="2014107"/>
            <a:ext cx="3980856" cy="1760421"/>
          </a:xfrm>
          <a:prstGeom prst="rect">
            <a:avLst/>
          </a:prstGeom>
          <a:noFill/>
          <a:ln>
            <a:noFill/>
          </a:ln>
        </p:spPr>
        <p:txBody>
          <a:bodyPr wrap="square" lIns="91424" tIns="45700" rIns="91424"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none" strike="noStrike" kern="0" cap="none" spc="0" normalizeH="0" baseline="0">
                <a:solidFill>
                  <a:srgbClr val="1A1A1A"/>
                </a:solidFill>
                <a:latin typeface="Meiryo UI"/>
                <a:ea typeface="Meiryo UI"/>
              </a:rPr>
              <a:t>・これまで学んだPythochと実装フローを比較しながら</a:t>
            </a:r>
          </a:p>
          <a:p>
            <a:pPr marL="0" marR="0" lvl="0" indent="0" algn="l" rtl="0" eaLnBrk="1" latinLnBrk="0" hangingPunct="1">
              <a:lnSpc>
                <a:spcPct val="90000"/>
              </a:lnSpc>
              <a:spcBef>
                <a:spcPts val="0"/>
              </a:spcBef>
              <a:spcAft>
                <a:spcPts val="0"/>
              </a:spcAft>
              <a:buClr>
                <a:srgbClr val="000000"/>
              </a:buClr>
              <a:buSzPct val="25000"/>
              <a:buFont typeface="Arial"/>
              <a:buNone/>
              <a:defRPr/>
            </a:pPr>
            <a:endParaRPr kumimoji="0" lang="ja-JP" altLang="en-US" sz="1400" b="0" i="0" u="none" strike="noStrike" kern="0" cap="none" spc="0" normalizeH="0" baseline="0">
              <a:solidFill>
                <a:srgbClr val="1A1A1A"/>
              </a:solidFill>
              <a:latin typeface="Meiryo UI"/>
              <a:ea typeface="Meiryo UI"/>
            </a:endParaRP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none" strike="noStrike" kern="0" cap="none" spc="0" normalizeH="0" baseline="0">
                <a:solidFill>
                  <a:srgbClr val="1A1A1A"/>
                </a:solidFill>
                <a:latin typeface="Meiryo UI"/>
                <a:ea typeface="Meiryo UI"/>
              </a:rPr>
              <a:t>・T</a:t>
            </a:r>
            <a:r>
              <a:rPr kumimoji="0" lang="ja-JP" altLang="en-US" sz="1400" b="0" i="0" u="none" strike="noStrike" kern="0" cap="none" spc="0" normalizeH="0" baseline="0">
                <a:solidFill>
                  <a:srgbClr val="1A1A1A"/>
                </a:solidFill>
                <a:latin typeface="Meiryo UI"/>
              </a:rPr>
              <a:t>ensortflow</a:t>
            </a:r>
            <a:r>
              <a:rPr kumimoji="0" lang="en-US" altLang="ja-JP" sz="1400" b="0" i="0" u="none" strike="noStrike" kern="0" cap="none" spc="0" normalizeH="0" baseline="0">
                <a:solidFill>
                  <a:srgbClr val="1A1A1A"/>
                </a:solidFill>
                <a:latin typeface="Meiryo UI"/>
              </a:rPr>
              <a:t>/</a:t>
            </a:r>
            <a:r>
              <a:rPr kumimoji="0" lang="ja-JP" altLang="en-US" sz="1400" b="0" i="0" u="none" strike="noStrike" kern="0" cap="none" spc="0" normalizeH="0" baseline="0">
                <a:solidFill>
                  <a:srgbClr val="1A1A1A"/>
                </a:solidFill>
                <a:latin typeface="Meiryo UI"/>
              </a:rPr>
              <a:t>Kerasで、</a:t>
            </a:r>
          </a:p>
          <a:p>
            <a:pPr marL="0" marR="0" lvl="0" indent="0" algn="l" rtl="0" eaLnBrk="1" latinLnBrk="0" hangingPunct="1">
              <a:lnSpc>
                <a:spcPct val="90000"/>
              </a:lnSpc>
              <a:spcBef>
                <a:spcPts val="0"/>
              </a:spcBef>
              <a:spcAft>
                <a:spcPts val="0"/>
              </a:spcAft>
              <a:buClr>
                <a:srgbClr val="000000"/>
              </a:buClr>
              <a:buSzPct val="25000"/>
              <a:buFont typeface="Arial"/>
              <a:buNone/>
              <a:defRPr/>
            </a:pPr>
            <a:endParaRPr kumimoji="0" lang="ja-JP" altLang="en-US" sz="1400" b="0" i="0" u="none" strike="noStrike" kern="0" cap="none" spc="0" normalizeH="0" baseline="0">
              <a:solidFill>
                <a:srgbClr val="1A1A1A"/>
              </a:solidFill>
              <a:latin typeface="Meiryo UI"/>
              <a:ea typeface="Meiryo UI"/>
            </a:endParaRP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none" strike="noStrike" kern="0" cap="none" spc="0" normalizeH="0" baseline="0">
                <a:solidFill>
                  <a:srgbClr val="1A1A1A"/>
                </a:solidFill>
                <a:latin typeface="Meiryo UI"/>
                <a:ea typeface="Meiryo UI"/>
              </a:rPr>
              <a:t>・音楽アプリを作る</a:t>
            </a:r>
          </a:p>
          <a:p>
            <a:pPr marL="0" marR="0" lvl="0" indent="0" algn="l" rtl="0" eaLnBrk="1" latinLnBrk="0" hangingPunct="1">
              <a:lnSpc>
                <a:spcPct val="90000"/>
              </a:lnSpc>
              <a:spcBef>
                <a:spcPts val="0"/>
              </a:spcBef>
              <a:spcAft>
                <a:spcPts val="0"/>
              </a:spcAft>
              <a:buClr>
                <a:srgbClr val="000000"/>
              </a:buClr>
              <a:buSzPct val="25000"/>
              <a:buFont typeface="Arial"/>
              <a:buNone/>
              <a:defRPr/>
            </a:pPr>
            <a:endParaRPr kumimoji="0" lang="ja-JP" altLang="en-US" sz="1400" b="0" i="0" u="none" strike="noStrike" kern="0" cap="none" spc="0" normalizeH="0" baseline="0">
              <a:solidFill>
                <a:srgbClr val="1A1A1A"/>
              </a:solidFill>
              <a:latin typeface="Meiryo UI"/>
              <a:ea typeface="Meiryo UI"/>
            </a:endParaRP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none" strike="noStrike" kern="0" cap="none" spc="0" normalizeH="0" baseline="0">
                <a:solidFill>
                  <a:srgbClr val="1A1A1A"/>
                </a:solidFill>
                <a:latin typeface="Meiryo UI"/>
                <a:ea typeface="Meiryo UI"/>
              </a:rPr>
              <a:t>・その中で理解しきれていないところを明確にして</a:t>
            </a: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none" strike="noStrike" kern="0" cap="none" spc="0" normalizeH="0" baseline="0">
                <a:solidFill>
                  <a:srgbClr val="1A1A1A"/>
                </a:solidFill>
                <a:latin typeface="Meiryo UI"/>
                <a:ea typeface="Meiryo UI"/>
              </a:rPr>
              <a:t>　理解につとめる</a:t>
            </a:r>
          </a:p>
        </p:txBody>
      </p:sp>
      <p:sp>
        <p:nvSpPr>
          <p:cNvPr id="126" name="Google Shape;117;p16"/>
          <p:cNvSpPr txBox="1"/>
          <p:nvPr/>
        </p:nvSpPr>
        <p:spPr>
          <a:xfrm>
            <a:off x="644850" y="4100544"/>
            <a:ext cx="8147200" cy="60035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altLang="en-US" sz="1800" b="0" i="0" u="none" strike="noStrike" cap="none">
                <a:solidFill>
                  <a:schemeClr val="dk2"/>
                </a:solidFill>
                <a:latin typeface="Meiryo UI"/>
                <a:ea typeface="Meiryo UI"/>
              </a:rPr>
              <a:t>当初目標（感性を指定できる自動作曲AIを作る）から、目標をぐーーーんと下げ、</a:t>
            </a:r>
          </a:p>
          <a:p>
            <a:pPr marL="0" marR="0" lvl="0" indent="0" algn="l" rtl="0">
              <a:lnSpc>
                <a:spcPct val="90000"/>
              </a:lnSpc>
              <a:spcBef>
                <a:spcPts val="0"/>
              </a:spcBef>
              <a:spcAft>
                <a:spcPts val="0"/>
              </a:spcAft>
              <a:buClr>
                <a:srgbClr val="000000"/>
              </a:buClr>
              <a:buSzPct val="25000"/>
              <a:buFont typeface="Arial"/>
              <a:buNone/>
              <a:defRPr/>
            </a:pPr>
            <a:r>
              <a:rPr lang="ja-JP" altLang="en-US" sz="1800" b="0" i="0" u="none" strike="noStrike" cap="none">
                <a:solidFill>
                  <a:srgbClr val="FF0000"/>
                </a:solidFill>
                <a:latin typeface="Meiryo UI"/>
                <a:ea typeface="Meiryo UI"/>
              </a:rPr>
              <a:t>動く事、音楽を生成できている事</a:t>
            </a:r>
            <a:r>
              <a:rPr lang="ja-JP" altLang="en-US" sz="1800" b="0" i="0" u="none" strike="noStrike" cap="none">
                <a:solidFill>
                  <a:schemeClr val="dk2"/>
                </a:solidFill>
                <a:latin typeface="Meiryo UI"/>
                <a:ea typeface="Meiryo UI"/>
              </a:rPr>
              <a:t>（過学習は～風となるのでウエルカム、許容！）</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Google Shape;171;p18"/>
          <p:cNvSpPr/>
          <p:nvPr/>
        </p:nvSpPr>
        <p:spPr>
          <a:xfrm>
            <a:off x="408775" y="927775"/>
            <a:ext cx="8279700" cy="37173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72" name="Google Shape;172;p18"/>
          <p:cNvSpPr/>
          <p:nvPr/>
        </p:nvSpPr>
        <p:spPr>
          <a:xfrm>
            <a:off x="408775" y="2398975"/>
            <a:ext cx="8279700" cy="14448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73" name="Google Shape;173;p18"/>
          <p:cNvSpPr/>
          <p:nvPr/>
        </p:nvSpPr>
        <p:spPr>
          <a:xfrm>
            <a:off x="408775" y="927775"/>
            <a:ext cx="8279700" cy="14712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74" name="Google Shape;174;p18"/>
          <p:cNvSpPr/>
          <p:nvPr/>
        </p:nvSpPr>
        <p:spPr>
          <a:xfrm>
            <a:off x="408775" y="3843775"/>
            <a:ext cx="8279700" cy="801300"/>
          </a:xfrm>
          <a:prstGeom prst="rect">
            <a:avLst/>
          </a:prstGeom>
          <a:noFill/>
          <a:ln w="9525" cap="flat" cmpd="sng">
            <a:solidFill>
              <a:srgbClr val="0070C0"/>
            </a:solidFill>
            <a:prstDash val="solid"/>
            <a:round/>
            <a:headEnd w="sm" len="sm"/>
            <a:tailEnd w="sm" len="sm"/>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75" name="Google Shape;175;p18"/>
          <p:cNvSpPr/>
          <p:nvPr/>
        </p:nvSpPr>
        <p:spPr>
          <a:xfrm>
            <a:off x="441325" y="4031425"/>
            <a:ext cx="8706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77" name="Google Shape;177;p18"/>
          <p:cNvSpPr/>
          <p:nvPr/>
        </p:nvSpPr>
        <p:spPr>
          <a:xfrm>
            <a:off x="468750" y="1080175"/>
            <a:ext cx="5937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78" name="Google Shape;178;p18"/>
          <p:cNvSpPr txBox="1"/>
          <p:nvPr/>
        </p:nvSpPr>
        <p:spPr>
          <a:xfrm>
            <a:off x="304134" y="226979"/>
            <a:ext cx="7071000" cy="385200"/>
          </a:xfrm>
          <a:prstGeom prst="rect">
            <a:avLst/>
          </a:prstGeom>
          <a:noFill/>
          <a:ln>
            <a:noFill/>
          </a:ln>
        </p:spPr>
        <p:txBody>
          <a:bodyPr wrap="square" lIns="91424" tIns="45700" rIns="91424" bIns="45700" anchor="t" anchorCtr="0">
            <a:noAutofit/>
          </a:bodyPr>
          <a:lstStyle/>
          <a:p>
            <a:pPr marL="0" marR="0" lvl="0" indent="0" algn="l" rtl="0">
              <a:lnSpc>
                <a:spcPct val="100000"/>
              </a:lnSpc>
              <a:spcBef>
                <a:spcPts val="0"/>
              </a:spcBef>
              <a:spcAft>
                <a:spcPts val="0"/>
              </a:spcAft>
              <a:buClr>
                <a:srgbClr val="000000"/>
              </a:buClr>
              <a:buSzPct val="25000"/>
              <a:buFont typeface="Arial"/>
              <a:buNone/>
              <a:defRPr/>
            </a:pPr>
            <a:r>
              <a:rPr lang="ja-JP" sz="2000" b="0" i="0" u="none" strike="noStrike" cap="none">
                <a:solidFill>
                  <a:srgbClr val="000000"/>
                </a:solidFill>
                <a:latin typeface="Arial"/>
                <a:ea typeface="Arial"/>
                <a:cs typeface="Arial"/>
                <a:sym typeface="Arial"/>
              </a:rPr>
              <a:t>自走期間に取り組んだ内容の概要(How)</a:t>
            </a:r>
            <a:endParaRPr sz="2000" b="0" i="0" u="none" strike="noStrike" cap="none">
              <a:solidFill>
                <a:srgbClr val="000000"/>
              </a:solidFill>
              <a:latin typeface="Arial"/>
              <a:ea typeface="Arial"/>
              <a:cs typeface="Arial"/>
              <a:sym typeface="Arial"/>
            </a:endParaRPr>
          </a:p>
        </p:txBody>
      </p:sp>
      <p:sp>
        <p:nvSpPr>
          <p:cNvPr id="179" name="Google Shape;179;p18"/>
          <p:cNvSpPr txBox="1"/>
          <p:nvPr/>
        </p:nvSpPr>
        <p:spPr>
          <a:xfrm>
            <a:off x="408775" y="927775"/>
            <a:ext cx="8706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概要</a:t>
            </a:r>
            <a:endParaRPr sz="1400" b="1" i="0" u="none" strike="noStrike" cap="none">
              <a:solidFill>
                <a:schemeClr val="dk2"/>
              </a:solidFill>
              <a:latin typeface="Arial"/>
              <a:ea typeface="Arial"/>
              <a:cs typeface="Arial"/>
              <a:sym typeface="Arial"/>
            </a:endParaRPr>
          </a:p>
        </p:txBody>
      </p:sp>
      <p:sp>
        <p:nvSpPr>
          <p:cNvPr id="180" name="Google Shape;180;p18"/>
          <p:cNvSpPr txBox="1"/>
          <p:nvPr/>
        </p:nvSpPr>
        <p:spPr>
          <a:xfrm>
            <a:off x="1158775" y="927775"/>
            <a:ext cx="4446300" cy="2712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200" b="0" i="0" u="none" strike="noStrike" cap="none">
                <a:solidFill>
                  <a:schemeClr val="dk2"/>
                </a:solidFill>
                <a:latin typeface="Arial"/>
                <a:ea typeface="Arial"/>
                <a:cs typeface="Arial"/>
                <a:sym typeface="Arial"/>
              </a:rPr>
              <a:t>取り組んだ内容をより具体的な概要で説明してください。</a:t>
            </a:r>
            <a:endParaRPr sz="1200" b="0" i="0" u="none" strike="noStrike" cap="none">
              <a:solidFill>
                <a:schemeClr val="dk2"/>
              </a:solidFill>
              <a:latin typeface="Arial"/>
              <a:ea typeface="Arial"/>
              <a:cs typeface="Arial"/>
              <a:sym typeface="Arial"/>
            </a:endParaRPr>
          </a:p>
        </p:txBody>
      </p:sp>
      <p:sp>
        <p:nvSpPr>
          <p:cNvPr id="181" name="Google Shape;181;p18"/>
          <p:cNvSpPr/>
          <p:nvPr/>
        </p:nvSpPr>
        <p:spPr>
          <a:xfrm>
            <a:off x="441325" y="2605325"/>
            <a:ext cx="1207500" cy="57600"/>
          </a:xfrm>
          <a:prstGeom prst="rect">
            <a:avLst/>
          </a:prstGeom>
          <a:solidFill>
            <a:srgbClr val="FFFF00">
              <a:alpha val="69800"/>
            </a:srgbClr>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82" name="Google Shape;182;p18"/>
          <p:cNvSpPr txBox="1"/>
          <p:nvPr/>
        </p:nvSpPr>
        <p:spPr>
          <a:xfrm>
            <a:off x="408775" y="717775"/>
            <a:ext cx="17517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900" b="0" i="0" u="none" strike="noStrike" cap="none">
                <a:solidFill>
                  <a:schemeClr val="dk2"/>
                </a:solidFill>
                <a:latin typeface="Arial"/>
                <a:ea typeface="Arial"/>
                <a:cs typeface="Arial"/>
                <a:sym typeface="Arial"/>
              </a:rPr>
              <a:t>ex ) AI アプリケーション作成</a:t>
            </a:r>
            <a:endParaRPr sz="900" b="0" i="0" u="none" strike="noStrike" cap="none">
              <a:solidFill>
                <a:schemeClr val="dk2"/>
              </a:solidFill>
              <a:latin typeface="Arial"/>
              <a:ea typeface="Arial"/>
              <a:cs typeface="Arial"/>
              <a:sym typeface="Arial"/>
            </a:endParaRPr>
          </a:p>
        </p:txBody>
      </p:sp>
      <p:sp>
        <p:nvSpPr>
          <p:cNvPr id="183" name="Google Shape;183;p18"/>
          <p:cNvSpPr txBox="1"/>
          <p:nvPr/>
        </p:nvSpPr>
        <p:spPr>
          <a:xfrm>
            <a:off x="408775" y="2417400"/>
            <a:ext cx="13560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スケジュール</a:t>
            </a:r>
            <a:endParaRPr sz="1400" b="1" i="0" u="none" strike="noStrike" cap="none">
              <a:solidFill>
                <a:schemeClr val="dk2"/>
              </a:solidFill>
              <a:latin typeface="Arial"/>
              <a:ea typeface="Arial"/>
              <a:cs typeface="Arial"/>
              <a:sym typeface="Arial"/>
            </a:endParaRPr>
          </a:p>
        </p:txBody>
      </p:sp>
      <p:sp>
        <p:nvSpPr>
          <p:cNvPr id="188" name="Google Shape;188;p18"/>
          <p:cNvSpPr/>
          <p:nvPr/>
        </p:nvSpPr>
        <p:spPr>
          <a:xfrm>
            <a:off x="516559" y="2746287"/>
            <a:ext cx="2149800" cy="210000"/>
          </a:xfrm>
          <a:prstGeom prst="homePlate">
            <a:avLst>
              <a:gd name="adj" fmla="val 50000"/>
            </a:avLst>
          </a:prstGeom>
          <a:solidFill>
            <a:srgbClr val="0070C0"/>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89" name="Google Shape;189;p18"/>
          <p:cNvSpPr txBox="1"/>
          <p:nvPr/>
        </p:nvSpPr>
        <p:spPr>
          <a:xfrm>
            <a:off x="515778" y="2753112"/>
            <a:ext cx="1482042" cy="218355"/>
          </a:xfrm>
          <a:prstGeom prst="rect">
            <a:avLst/>
          </a:prstGeom>
          <a:noFill/>
          <a:ln>
            <a:noFill/>
          </a:ln>
        </p:spPr>
        <p:txBody>
          <a:bodyPr wrap="square" lIns="91424" tIns="45700" rIns="91424" bIns="45700" anchor="t" anchorCtr="0">
            <a:noAutofit/>
          </a:bodyPr>
          <a:lstStyle/>
          <a:p>
            <a:pPr marL="0" marR="0" lvl="0" indent="0" rtl="0">
              <a:lnSpc>
                <a:spcPct val="90000"/>
              </a:lnSpc>
              <a:spcBef>
                <a:spcPts val="0"/>
              </a:spcBef>
              <a:spcAft>
                <a:spcPts val="0"/>
              </a:spcAft>
              <a:buClr>
                <a:srgbClr val="000000"/>
              </a:buClr>
              <a:buSzPct val="25000"/>
              <a:buFont typeface="Arial"/>
              <a:buNone/>
              <a:defRPr/>
            </a:pPr>
            <a:r>
              <a:rPr lang="ja-JP" sz="900" b="1" i="0" u="none" strike="noStrike" cap="none">
                <a:solidFill>
                  <a:srgbClr val="FFFFFF"/>
                </a:solidFill>
                <a:latin typeface="Arial"/>
                <a:ea typeface="Arial"/>
                <a:cs typeface="Arial"/>
                <a:sym typeface="Arial"/>
              </a:rPr>
              <a:t>1 ヶ月目</a:t>
            </a:r>
            <a:r>
              <a:rPr lang="ja-JP" altLang="en-US" sz="900" b="1" i="0" u="none" strike="noStrike" cap="none">
                <a:solidFill>
                  <a:srgbClr val="FFFFFF"/>
                </a:solidFill>
                <a:latin typeface="Arial"/>
                <a:ea typeface="Arial"/>
                <a:cs typeface="Arial"/>
                <a:sym typeface="Arial"/>
              </a:rPr>
              <a:t>　（</a:t>
            </a:r>
            <a:r>
              <a:rPr lang="en-US" altLang="ja-JP" sz="900" b="1" i="0" u="none" strike="noStrike" cap="none">
                <a:solidFill>
                  <a:srgbClr val="FFFFFF"/>
                </a:solidFill>
                <a:latin typeface="Arial"/>
                <a:ea typeface="Arial"/>
                <a:cs typeface="Arial"/>
                <a:sym typeface="Arial"/>
              </a:rPr>
              <a:t>6/25</a:t>
            </a:r>
            <a:r>
              <a:rPr lang="ja-JP" altLang="en-US" sz="900" b="1" i="0" u="none" strike="noStrike" cap="none">
                <a:solidFill>
                  <a:srgbClr val="FFFFFF"/>
                </a:solidFill>
                <a:latin typeface="Arial"/>
                <a:ea typeface="Arial"/>
                <a:cs typeface="Arial"/>
                <a:sym typeface="Arial"/>
              </a:rPr>
              <a:t>～）</a:t>
            </a:r>
          </a:p>
        </p:txBody>
      </p:sp>
      <p:sp>
        <p:nvSpPr>
          <p:cNvPr id="194" name="Google Shape;194;p18"/>
          <p:cNvSpPr txBox="1"/>
          <p:nvPr/>
        </p:nvSpPr>
        <p:spPr>
          <a:xfrm>
            <a:off x="487203" y="2947717"/>
            <a:ext cx="2667625" cy="940486"/>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①</a:t>
            </a:r>
            <a:r>
              <a:rPr lang="ja-JP" altLang="en-US" sz="1000" b="0" i="0" u="none" strike="noStrike" cap="none">
                <a:solidFill>
                  <a:schemeClr val="dk2"/>
                </a:solidFill>
                <a:latin typeface="Meiryo UI"/>
              </a:rPr>
              <a:t>midi</a:t>
            </a:r>
            <a:r>
              <a:rPr lang="ja-JP" altLang="en-US" sz="1000" b="0" i="0" u="none" strike="noStrike" cap="none">
                <a:solidFill>
                  <a:schemeClr val="dk2"/>
                </a:solidFill>
                <a:latin typeface="Meiryo UI"/>
                <a:ea typeface="Meiryo UI"/>
              </a:rPr>
              <a:t>読み込み方法の探索</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   </a:t>
            </a:r>
            <a:r>
              <a:rPr lang="ja-JP" altLang="en-US" sz="1000" b="0" i="0" u="none" strike="noStrike" cap="none">
                <a:solidFill>
                  <a:srgbClr val="FF0000"/>
                </a:solidFill>
                <a:latin typeface="Meiryo UI"/>
                <a:ea typeface="Meiryo UI"/>
              </a:rPr>
              <a:t>⇒ music</a:t>
            </a:r>
            <a:r>
              <a:rPr lang="en-US" altLang="ja-JP" sz="1000" b="0" i="0" u="none" strike="noStrike" cap="none">
                <a:solidFill>
                  <a:srgbClr val="FF0000"/>
                </a:solidFill>
                <a:latin typeface="Meiryo UI"/>
                <a:ea typeface="Meiryo UI"/>
              </a:rPr>
              <a:t>21</a:t>
            </a:r>
            <a:r>
              <a:rPr lang="ja-JP" altLang="en-US" sz="1000" b="0" i="0" u="none" strike="noStrike" cap="none">
                <a:solidFill>
                  <a:srgbClr val="FF0000"/>
                </a:solidFill>
                <a:latin typeface="Meiryo UI"/>
                <a:ea typeface="Meiryo UI"/>
              </a:rPr>
              <a:t>ライブラリー使用</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②</a:t>
            </a:r>
            <a:r>
              <a:rPr lang="ja-JP" altLang="en-US" sz="1000" b="0" i="0" u="none" strike="noStrike" cap="none">
                <a:solidFill>
                  <a:schemeClr val="dk2"/>
                </a:solidFill>
                <a:latin typeface="Meiryo UI"/>
              </a:rPr>
              <a:t>midi</a:t>
            </a:r>
            <a:r>
              <a:rPr lang="ja-JP" altLang="en-US" sz="1000" b="0" i="0" u="none" strike="noStrike" cap="none">
                <a:solidFill>
                  <a:schemeClr val="dk2"/>
                </a:solidFill>
                <a:latin typeface="Meiryo UI"/>
                <a:ea typeface="Meiryo UI"/>
              </a:rPr>
              <a:t>データのかき集め</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③音楽</a:t>
            </a:r>
            <a:r>
              <a:rPr lang="ja-JP" altLang="en-US" sz="1000" b="0" i="0" u="none" strike="noStrike" cap="none">
                <a:solidFill>
                  <a:schemeClr val="dk2"/>
                </a:solidFill>
                <a:latin typeface="Meiryo UI"/>
              </a:rPr>
              <a:t>LSTM</a:t>
            </a:r>
            <a:r>
              <a:rPr lang="ja-JP" altLang="en-US" sz="1000" b="0" i="0" u="none" strike="noStrike" cap="none">
                <a:solidFill>
                  <a:schemeClr val="dk2"/>
                </a:solidFill>
                <a:latin typeface="Meiryo UI"/>
                <a:ea typeface="Meiryo UI"/>
              </a:rPr>
              <a:t>モデル</a:t>
            </a:r>
            <a:r>
              <a:rPr lang="en-US" altLang="ja-JP" sz="1000" b="0" i="0" u="none" strike="noStrike" cap="none">
                <a:solidFill>
                  <a:schemeClr val="dk2"/>
                </a:solidFill>
                <a:latin typeface="Meiryo UI"/>
                <a:ea typeface="Meiryo UI"/>
              </a:rPr>
              <a:t>(</a:t>
            </a:r>
            <a:r>
              <a:rPr lang="ja-JP" altLang="en-US" sz="1000" b="0" i="0" u="none" strike="noStrike" cap="none">
                <a:solidFill>
                  <a:schemeClr val="dk2"/>
                </a:solidFill>
                <a:latin typeface="Meiryo UI"/>
              </a:rPr>
              <a:t>Githubなど</a:t>
            </a:r>
            <a:r>
              <a:rPr lang="en-US" altLang="ja-JP" sz="1000" b="0" i="0" u="none" strike="noStrike" cap="none">
                <a:solidFill>
                  <a:schemeClr val="dk2"/>
                </a:solidFill>
                <a:latin typeface="Meiryo UI"/>
              </a:rPr>
              <a:t>)</a:t>
            </a:r>
            <a:r>
              <a:rPr lang="ja-JP" altLang="en-US" sz="1000" b="0" i="0" u="none" strike="noStrike" cap="none">
                <a:solidFill>
                  <a:schemeClr val="dk2"/>
                </a:solidFill>
                <a:latin typeface="Meiryo UI"/>
              </a:rPr>
              <a:t>を</a:t>
            </a:r>
            <a:r>
              <a:rPr lang="ja-JP" altLang="en-US" sz="1000" b="0" i="0" u="none" strike="noStrike" cap="none">
                <a:solidFill>
                  <a:srgbClr val="0000FF"/>
                </a:solidFill>
                <a:latin typeface="Meiryo UI"/>
                <a:ea typeface="Meiryo UI"/>
              </a:rPr>
              <a:t>解読</a:t>
            </a:r>
            <a:r>
              <a:rPr lang="en-US" altLang="ja-JP" sz="1000" b="0" i="0" u="none" strike="noStrike" cap="none">
                <a:solidFill>
                  <a:srgbClr val="0000FF"/>
                </a:solidFill>
                <a:latin typeface="Meiryo UI"/>
                <a:ea typeface="Meiryo UI"/>
              </a:rPr>
              <a:t>!!</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　 </a:t>
            </a:r>
            <a:r>
              <a:rPr lang="ja-JP" altLang="en-US" sz="1000" b="0" i="0" u="none" strike="noStrike" cap="none">
                <a:solidFill>
                  <a:srgbClr val="FF0000"/>
                </a:solidFill>
                <a:latin typeface="Meiryo UI"/>
                <a:ea typeface="Meiryo UI"/>
              </a:rPr>
              <a:t>⇒ 音トークン化＋多層LSTMモデルと判明</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　 ⇒ Herokuに仮組み⇒</a:t>
            </a:r>
            <a:r>
              <a:rPr lang="en-US" altLang="ja-JP" sz="1000" b="0" i="0" u="none" strike="noStrike" cap="none">
                <a:solidFill>
                  <a:schemeClr val="dk2"/>
                </a:solidFill>
                <a:latin typeface="Meiryo UI"/>
                <a:ea typeface="Meiryo UI"/>
              </a:rPr>
              <a:t>1.7</a:t>
            </a:r>
            <a:r>
              <a:rPr lang="ja-JP" altLang="en-US" sz="1000" b="0" i="0" u="none" strike="noStrike" cap="none">
                <a:solidFill>
                  <a:schemeClr val="dk2"/>
                </a:solidFill>
                <a:latin typeface="Meiryo UI"/>
                <a:ea typeface="Meiryo UI"/>
              </a:rPr>
              <a:t>Gありデプロイ断念</a:t>
            </a:r>
          </a:p>
        </p:txBody>
      </p:sp>
      <p:sp>
        <p:nvSpPr>
          <p:cNvPr id="197" name="Google Shape;197;p18"/>
          <p:cNvSpPr txBox="1"/>
          <p:nvPr/>
        </p:nvSpPr>
        <p:spPr>
          <a:xfrm>
            <a:off x="408775" y="3842900"/>
            <a:ext cx="940800" cy="210000"/>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sz="1400" b="1" i="0" u="none" strike="noStrike" cap="none">
                <a:solidFill>
                  <a:schemeClr val="dk2"/>
                </a:solidFill>
                <a:latin typeface="Arial"/>
                <a:ea typeface="Arial"/>
                <a:cs typeface="Arial"/>
                <a:sym typeface="Arial"/>
              </a:rPr>
              <a:t>最終結果</a:t>
            </a:r>
            <a:endParaRPr sz="1400" b="1" i="0" u="none" strike="noStrike" cap="none">
              <a:solidFill>
                <a:schemeClr val="dk2"/>
              </a:solidFill>
              <a:latin typeface="Arial"/>
              <a:ea typeface="Arial"/>
              <a:cs typeface="Arial"/>
              <a:sym typeface="Arial"/>
            </a:endParaRPr>
          </a:p>
        </p:txBody>
      </p:sp>
      <p:sp>
        <p:nvSpPr>
          <p:cNvPr id="199" name="Google Shape;199;p18"/>
          <p:cNvSpPr txBox="1"/>
          <p:nvPr/>
        </p:nvSpPr>
        <p:spPr>
          <a:xfrm>
            <a:off x="441325" y="1239000"/>
            <a:ext cx="8024611" cy="1048200"/>
          </a:xfrm>
          <a:prstGeom prst="rect">
            <a:avLst/>
          </a:prstGeom>
          <a:noFill/>
          <a:ln>
            <a:noFill/>
          </a:ln>
        </p:spPr>
        <p:txBody>
          <a:bodyPr wrap="square" lIns="91424" tIns="45700" rIns="91424" bIns="45700" anchor="t" anchorCtr="0">
            <a:noAutofit/>
          </a:bodyPr>
          <a:lstStyle/>
          <a:p>
            <a:pPr marL="152400" marR="0" lvl="0" indent="0" algn="l" rtl="0">
              <a:lnSpc>
                <a:spcPct val="90000"/>
              </a:lnSpc>
              <a:spcBef>
                <a:spcPts val="0"/>
              </a:spcBef>
              <a:spcAft>
                <a:spcPts val="0"/>
              </a:spcAft>
              <a:buClr>
                <a:schemeClr val="dk2"/>
              </a:buClr>
              <a:buSzPct val="25000"/>
              <a:buFont typeface="Arial"/>
              <a:buNone/>
              <a:defRPr/>
            </a:pPr>
            <a:r>
              <a:rPr lang="ja-JP" altLang="en-US" sz="1200" b="0" i="0" u="none" strike="noStrike" cap="none">
                <a:solidFill>
                  <a:schemeClr val="dk2"/>
                </a:solidFill>
                <a:latin typeface="Meiryo UI"/>
                <a:ea typeface="Meiryo UI"/>
              </a:rPr>
              <a:t>①　</a:t>
            </a:r>
            <a:r>
              <a:rPr lang="ja-JP" sz="1200" b="0" i="0" u="none" strike="noStrike" cap="none">
                <a:solidFill>
                  <a:schemeClr val="dk2"/>
                </a:solidFill>
                <a:latin typeface="Meiryo UI"/>
                <a:ea typeface="Meiryo UI"/>
              </a:rPr>
              <a:t>どんな機能を持った</a:t>
            </a:r>
            <a:r>
              <a:rPr lang="ja-JP" sz="1200" b="0" i="0" u="none" strike="noStrike" cap="none">
                <a:solidFill>
                  <a:schemeClr val="dk2"/>
                </a:solidFill>
                <a:latin typeface="Meiryo UI"/>
              </a:rPr>
              <a:t> AI </a:t>
            </a:r>
            <a:r>
              <a:rPr lang="ja-JP" sz="1200" b="0" i="0" u="none" strike="noStrike" cap="none">
                <a:solidFill>
                  <a:schemeClr val="dk2"/>
                </a:solidFill>
                <a:latin typeface="Meiryo UI"/>
                <a:ea typeface="Meiryo UI"/>
              </a:rPr>
              <a:t>アプリなのか</a:t>
            </a:r>
            <a:r>
              <a:rPr lang="ja-JP" altLang="en-US" sz="1200" b="0" i="0" u="none" strike="noStrike" cap="none">
                <a:solidFill>
                  <a:schemeClr val="dk2"/>
                </a:solidFill>
                <a:latin typeface="Meiryo UI"/>
                <a:ea typeface="Meiryo UI"/>
              </a:rPr>
              <a:t>　：　学習データの一部をランダムに抽出し、それに続く曲を生成する</a:t>
            </a:r>
          </a:p>
          <a:p>
            <a:pPr marL="152400" marR="0" lvl="0" indent="0" algn="l" rtl="0">
              <a:lnSpc>
                <a:spcPct val="90000"/>
              </a:lnSpc>
              <a:spcBef>
                <a:spcPts val="0"/>
              </a:spcBef>
              <a:spcAft>
                <a:spcPts val="0"/>
              </a:spcAft>
              <a:buClr>
                <a:schemeClr val="dk2"/>
              </a:buClr>
              <a:buSzPct val="25000"/>
              <a:buFont typeface="Arial"/>
              <a:buNone/>
              <a:defRPr/>
            </a:pPr>
            <a:r>
              <a:rPr lang="ja-JP" altLang="en-US" sz="1200" b="0" i="0" u="none" strike="noStrike" cap="none">
                <a:solidFill>
                  <a:schemeClr val="dk2"/>
                </a:solidFill>
                <a:latin typeface="Meiryo UI"/>
                <a:ea typeface="Meiryo UI"/>
              </a:rPr>
              <a:t>②　</a:t>
            </a:r>
            <a:r>
              <a:rPr lang="ja-JP" sz="1200" b="0" i="0" u="none" strike="noStrike" cap="none">
                <a:solidFill>
                  <a:schemeClr val="dk2"/>
                </a:solidFill>
                <a:latin typeface="Meiryo UI"/>
                <a:ea typeface="Meiryo UI"/>
              </a:rPr>
              <a:t>データについて</a:t>
            </a:r>
            <a:r>
              <a:rPr lang="ja-JP" altLang="en-US" sz="1200" b="0" i="0" u="none" strike="noStrike" cap="none">
                <a:solidFill>
                  <a:schemeClr val="dk2"/>
                </a:solidFill>
                <a:latin typeface="Meiryo UI"/>
                <a:ea typeface="Meiryo UI"/>
              </a:rPr>
              <a:t>　　　　　　：　</a:t>
            </a:r>
            <a:r>
              <a:rPr lang="ja-JP" altLang="en-US" sz="1200" b="0" i="0" u="none" strike="noStrike" cap="none">
                <a:solidFill>
                  <a:schemeClr val="dk2"/>
                </a:solidFill>
                <a:latin typeface="Meiryo UI"/>
              </a:rPr>
              <a:t>midi</a:t>
            </a:r>
            <a:r>
              <a:rPr lang="ja-JP" altLang="en-US" sz="1200" b="0" i="0" u="none" strike="noStrike" cap="none">
                <a:solidFill>
                  <a:schemeClr val="dk2"/>
                </a:solidFill>
                <a:latin typeface="Meiryo UI"/>
                <a:ea typeface="Meiryo UI"/>
              </a:rPr>
              <a:t>データ　</a:t>
            </a:r>
            <a:r>
              <a:rPr lang="en-US" altLang="ja-JP" sz="1200" b="0" i="0" u="none" strike="noStrike" cap="none">
                <a:solidFill>
                  <a:schemeClr val="dk2"/>
                </a:solidFill>
                <a:latin typeface="Meiryo UI"/>
              </a:rPr>
              <a:t>@</a:t>
            </a:r>
            <a:r>
              <a:rPr lang="ja-JP" altLang="en-US" sz="1200" b="0" i="0" u="none" strike="noStrike" cap="none">
                <a:solidFill>
                  <a:schemeClr val="dk2"/>
                </a:solidFill>
                <a:latin typeface="Meiryo UI"/>
                <a:ea typeface="Meiryo UI"/>
              </a:rPr>
              <a:t>　</a:t>
            </a:r>
            <a:r>
              <a:rPr lang="ja-JP" altLang="en-US" sz="1200" b="0" i="0" u="none" strike="noStrike" cap="none">
                <a:solidFill>
                  <a:schemeClr val="dk2"/>
                </a:solidFill>
                <a:latin typeface="Meiryo UI"/>
              </a:rPr>
              <a:t>piano</a:t>
            </a:r>
            <a:r>
              <a:rPr lang="ja-JP" altLang="en-US" sz="1200" b="0" i="0" u="none" strike="noStrike" cap="none">
                <a:solidFill>
                  <a:schemeClr val="dk2"/>
                </a:solidFill>
                <a:latin typeface="Meiryo UI"/>
                <a:ea typeface="Meiryo UI"/>
              </a:rPr>
              <a:t>楽器のみに限定</a:t>
            </a:r>
          </a:p>
          <a:p>
            <a:pPr marL="152400" marR="0" lvl="0" indent="0" algn="l" rtl="0">
              <a:lnSpc>
                <a:spcPct val="90000"/>
              </a:lnSpc>
              <a:spcBef>
                <a:spcPts val="0"/>
              </a:spcBef>
              <a:spcAft>
                <a:spcPts val="0"/>
              </a:spcAft>
              <a:buClr>
                <a:schemeClr val="dk2"/>
              </a:buClr>
              <a:buSzPct val="25000"/>
              <a:buFont typeface="Arial"/>
              <a:buNone/>
              <a:defRPr/>
            </a:pPr>
            <a:r>
              <a:rPr lang="ja-JP" altLang="en-US" sz="1200" b="0" i="0" u="none" strike="noStrike" cap="none">
                <a:solidFill>
                  <a:schemeClr val="dk2"/>
                </a:solidFill>
                <a:latin typeface="Meiryo UI"/>
                <a:ea typeface="Meiryo UI"/>
              </a:rPr>
              <a:t>③　</a:t>
            </a:r>
            <a:r>
              <a:rPr lang="ja-JP" sz="1200" b="0" i="0" u="none" strike="noStrike" cap="none">
                <a:solidFill>
                  <a:schemeClr val="dk2"/>
                </a:solidFill>
                <a:latin typeface="Meiryo UI"/>
                <a:ea typeface="Meiryo UI"/>
              </a:rPr>
              <a:t>データ収集方法</a:t>
            </a:r>
            <a:r>
              <a:rPr lang="ja-JP" altLang="en-US" sz="1200" b="0" i="0" u="none" strike="noStrike" cap="none">
                <a:solidFill>
                  <a:schemeClr val="dk2"/>
                </a:solidFill>
                <a:latin typeface="Meiryo UI"/>
                <a:ea typeface="Meiryo UI"/>
              </a:rPr>
              <a:t>　　　　　：</a:t>
            </a:r>
            <a:r>
              <a:rPr lang="ja-JP" altLang="en-US" sz="1200" b="0" i="0" u="none" strike="noStrike" cap="none">
                <a:solidFill>
                  <a:schemeClr val="dk2"/>
                </a:solidFill>
                <a:latin typeface="Meiryo UI"/>
              </a:rPr>
              <a:t> GitHub</a:t>
            </a:r>
            <a:r>
              <a:rPr lang="ja-JP" altLang="en-US" sz="1200" b="0" i="0" u="none" strike="noStrike" cap="none">
                <a:solidFill>
                  <a:schemeClr val="dk2"/>
                </a:solidFill>
                <a:latin typeface="Meiryo UI"/>
                <a:ea typeface="Meiryo UI"/>
              </a:rPr>
              <a:t>の他の方の</a:t>
            </a:r>
            <a:r>
              <a:rPr lang="ja-JP" altLang="en-US" sz="1200" b="0" i="0" u="none" strike="noStrike" cap="none">
                <a:solidFill>
                  <a:schemeClr val="dk2"/>
                </a:solidFill>
                <a:latin typeface="Meiryo UI"/>
              </a:rPr>
              <a:t>midi</a:t>
            </a:r>
            <a:r>
              <a:rPr lang="ja-JP" altLang="en-US" sz="1200" b="0" i="0" u="none" strike="noStrike" cap="none">
                <a:solidFill>
                  <a:schemeClr val="dk2"/>
                </a:solidFill>
                <a:latin typeface="Meiryo UI"/>
                <a:ea typeface="Meiryo UI"/>
              </a:rPr>
              <a:t>データを使用＋手動ダウンロード</a:t>
            </a:r>
          </a:p>
          <a:p>
            <a:pPr marL="152400" marR="0" lvl="0" indent="0" algn="l" rtl="0">
              <a:lnSpc>
                <a:spcPct val="90000"/>
              </a:lnSpc>
              <a:spcBef>
                <a:spcPts val="0"/>
              </a:spcBef>
              <a:spcAft>
                <a:spcPts val="0"/>
              </a:spcAft>
              <a:buClr>
                <a:schemeClr val="dk2"/>
              </a:buClr>
              <a:buSzPct val="25000"/>
              <a:buFont typeface="Arial"/>
              <a:buNone/>
              <a:defRPr/>
            </a:pPr>
            <a:r>
              <a:rPr lang="ja-JP" altLang="en-US" sz="1200" b="0" i="0" u="none" strike="noStrike" cap="none">
                <a:solidFill>
                  <a:schemeClr val="dk2"/>
                </a:solidFill>
                <a:latin typeface="Meiryo UI"/>
                <a:ea typeface="Meiryo UI"/>
              </a:rPr>
              <a:t>④　</a:t>
            </a:r>
            <a:r>
              <a:rPr lang="ja-JP" sz="1200" b="0" i="0" u="none" strike="noStrike" cap="none">
                <a:solidFill>
                  <a:schemeClr val="dk2"/>
                </a:solidFill>
                <a:latin typeface="Meiryo UI"/>
                <a:ea typeface="Meiryo UI"/>
              </a:rPr>
              <a:t>どの様なモデルにしたか</a:t>
            </a:r>
            <a:r>
              <a:rPr lang="ja-JP" altLang="en-US" sz="1200" b="0" i="0" u="none" strike="noStrike" cap="none">
                <a:solidFill>
                  <a:schemeClr val="dk2"/>
                </a:solidFill>
                <a:latin typeface="Meiryo UI"/>
                <a:ea typeface="Meiryo UI"/>
              </a:rPr>
              <a:t>　：</a:t>
            </a:r>
            <a:r>
              <a:rPr lang="ja-JP" altLang="en-US" sz="1200" b="0" i="0" u="none" strike="noStrike" cap="none">
                <a:solidFill>
                  <a:schemeClr val="dk2"/>
                </a:solidFill>
                <a:latin typeface="Meiryo UI"/>
              </a:rPr>
              <a:t> </a:t>
            </a:r>
            <a:r>
              <a:rPr lang="en-US" altLang="ja-JP" sz="1200" b="0" i="0" u="none" strike="noStrike" cap="none">
                <a:solidFill>
                  <a:schemeClr val="dk2"/>
                </a:solidFill>
                <a:latin typeface="Meiryo UI"/>
              </a:rPr>
              <a:t>4</a:t>
            </a:r>
            <a:r>
              <a:rPr lang="ja-JP" altLang="en-US" sz="1200" b="0" i="0" u="none" strike="noStrike" cap="none">
                <a:solidFill>
                  <a:schemeClr val="dk2"/>
                </a:solidFill>
                <a:latin typeface="Meiryo UI"/>
                <a:ea typeface="Meiryo UI"/>
              </a:rPr>
              <a:t>出力（音／音価／音位置／音の強弱）する多層</a:t>
            </a:r>
            <a:r>
              <a:rPr lang="ja-JP" altLang="en-US" sz="1200" b="0" i="0" u="none" strike="noStrike" cap="none">
                <a:solidFill>
                  <a:schemeClr val="dk2"/>
                </a:solidFill>
                <a:latin typeface="Meiryo UI"/>
              </a:rPr>
              <a:t>LSTM</a:t>
            </a:r>
            <a:r>
              <a:rPr lang="ja-JP" altLang="en-US" sz="1200" b="0" i="0" u="none" strike="noStrike" cap="none">
                <a:solidFill>
                  <a:schemeClr val="dk2"/>
                </a:solidFill>
                <a:latin typeface="Meiryo UI"/>
                <a:ea typeface="Meiryo UI"/>
              </a:rPr>
              <a:t>モデル</a:t>
            </a:r>
          </a:p>
          <a:p>
            <a:pPr marL="152400" marR="0" lvl="0" indent="0" algn="l" rtl="0">
              <a:lnSpc>
                <a:spcPct val="90000"/>
              </a:lnSpc>
              <a:spcBef>
                <a:spcPts val="0"/>
              </a:spcBef>
              <a:spcAft>
                <a:spcPts val="0"/>
              </a:spcAft>
              <a:buClr>
                <a:schemeClr val="dk2"/>
              </a:buClr>
              <a:buSzPct val="25000"/>
              <a:buFont typeface="Arial"/>
              <a:buNone/>
              <a:defRPr/>
            </a:pPr>
            <a:r>
              <a:rPr lang="ja-JP" altLang="en-US" sz="1200" b="0" i="0" u="none" strike="noStrike" cap="none">
                <a:solidFill>
                  <a:schemeClr val="dk2"/>
                </a:solidFill>
                <a:latin typeface="Meiryo UI"/>
                <a:ea typeface="Meiryo UI"/>
              </a:rPr>
              <a:t>⑤　</a:t>
            </a:r>
            <a:r>
              <a:rPr lang="ja-JP" sz="1200" b="0" i="0" u="none" strike="noStrike" cap="none">
                <a:solidFill>
                  <a:schemeClr val="dk2"/>
                </a:solidFill>
                <a:latin typeface="Meiryo UI"/>
                <a:ea typeface="Meiryo UI"/>
              </a:rPr>
              <a:t>デザインイメージや最終的な完成形</a:t>
            </a:r>
            <a:r>
              <a:rPr lang="ja-JP" altLang="en-US" sz="1200" b="0" i="0" u="none" strike="noStrike" cap="none">
                <a:solidFill>
                  <a:schemeClr val="dk2"/>
                </a:solidFill>
                <a:latin typeface="Meiryo UI"/>
                <a:ea typeface="Meiryo UI"/>
              </a:rPr>
              <a:t>　：　入力フレーズ（数小節）を</a:t>
            </a:r>
            <a:r>
              <a:rPr lang="ja-JP" altLang="en-US" sz="1200" b="0" i="0" u="none" strike="noStrike" cap="none">
                <a:solidFill>
                  <a:schemeClr val="dk2"/>
                </a:solidFill>
                <a:latin typeface="Meiryo UI"/>
              </a:rPr>
              <a:t>input</a:t>
            </a:r>
            <a:r>
              <a:rPr lang="ja-JP" altLang="en-US" sz="1200" b="0" i="0" u="none" strike="noStrike" cap="none">
                <a:solidFill>
                  <a:schemeClr val="dk2"/>
                </a:solidFill>
                <a:latin typeface="Meiryo UI"/>
                <a:ea typeface="Meiryo UI"/>
              </a:rPr>
              <a:t>すると、それに続く曲が生成される</a:t>
            </a:r>
          </a:p>
          <a:p>
            <a:pPr marL="152400" marR="0" lvl="0" indent="0" algn="l" rtl="0">
              <a:lnSpc>
                <a:spcPct val="90000"/>
              </a:lnSpc>
              <a:spcBef>
                <a:spcPts val="0"/>
              </a:spcBef>
              <a:spcAft>
                <a:spcPts val="0"/>
              </a:spcAft>
              <a:buClr>
                <a:schemeClr val="dk2"/>
              </a:buClr>
              <a:buSzPct val="25000"/>
              <a:buFont typeface="Arial"/>
              <a:buNone/>
              <a:defRPr/>
            </a:pPr>
            <a:r>
              <a:rPr lang="ja-JP" altLang="en-US" sz="1200" b="0" i="0" u="none" strike="noStrike" cap="none">
                <a:solidFill>
                  <a:schemeClr val="dk2"/>
                </a:solidFill>
                <a:latin typeface="Meiryo UI"/>
                <a:ea typeface="Meiryo UI"/>
              </a:rPr>
              <a:t>⑥</a:t>
            </a:r>
            <a:r>
              <a:rPr lang="ja-JP" sz="1200" b="0" i="0" u="none" strike="noStrike" cap="none">
                <a:solidFill>
                  <a:schemeClr val="dk2"/>
                </a:solidFill>
                <a:latin typeface="Meiryo UI"/>
                <a:ea typeface="Meiryo UI"/>
              </a:rPr>
              <a:t>（デプロイした場合）</a:t>
            </a:r>
            <a:r>
              <a:rPr lang="ja-JP" sz="1200" b="0" i="0" u="none" strike="noStrike" cap="none">
                <a:solidFill>
                  <a:schemeClr val="dk2"/>
                </a:solidFill>
                <a:latin typeface="Meiryo UI"/>
              </a:rPr>
              <a:t>URL</a:t>
            </a:r>
            <a:r>
              <a:rPr lang="ja-JP" altLang="en-US" sz="1200" b="0" i="0" u="none" strike="noStrike" cap="none">
                <a:solidFill>
                  <a:schemeClr val="dk2"/>
                </a:solidFill>
                <a:latin typeface="Meiryo UI"/>
                <a:ea typeface="Meiryo UI"/>
              </a:rPr>
              <a:t>　：　総容量が重いので、デプロイ断念。ローカルサーバーでmidiアップ⇒生成⇒ダウンロードは実装</a:t>
            </a:r>
          </a:p>
        </p:txBody>
      </p:sp>
      <p:grpSp>
        <p:nvGrpSpPr>
          <p:cNvPr id="202" name="グループ化 201"/>
          <p:cNvGrpSpPr/>
          <p:nvPr/>
        </p:nvGrpSpPr>
        <p:grpSpPr>
          <a:xfrm>
            <a:off x="3002402" y="2745559"/>
            <a:ext cx="3177296" cy="1041703"/>
            <a:chOff x="3169392" y="2747898"/>
            <a:chExt cx="3177296" cy="1041703"/>
          </a:xfrm>
        </p:grpSpPr>
        <p:sp>
          <p:nvSpPr>
            <p:cNvPr id="190" name="Google Shape;190;p18"/>
            <p:cNvSpPr/>
            <p:nvPr/>
          </p:nvSpPr>
          <p:spPr>
            <a:xfrm>
              <a:off x="3228970" y="2753840"/>
              <a:ext cx="2692892" cy="193289"/>
            </a:xfrm>
            <a:prstGeom prst="homePlate">
              <a:avLst>
                <a:gd name="adj" fmla="val 50000"/>
              </a:avLst>
            </a:prstGeom>
            <a:solidFill>
              <a:srgbClr val="0070C0"/>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91" name="Google Shape;191;p18"/>
            <p:cNvSpPr txBox="1"/>
            <p:nvPr/>
          </p:nvSpPr>
          <p:spPr>
            <a:xfrm>
              <a:off x="3208117" y="2747898"/>
              <a:ext cx="1097700" cy="210000"/>
            </a:xfrm>
            <a:prstGeom prst="rect">
              <a:avLst/>
            </a:prstGeom>
            <a:noFill/>
            <a:ln>
              <a:noFill/>
            </a:ln>
          </p:spPr>
          <p:txBody>
            <a:bodyPr wrap="square" lIns="91424" tIns="45700" rIns="91424" bIns="45700" anchor="t" anchorCtr="0">
              <a:noAutofit/>
            </a:bodyPr>
            <a:lstStyle/>
            <a:p>
              <a:pPr marL="0" marR="0" lvl="0" indent="0" rtl="0">
                <a:lnSpc>
                  <a:spcPct val="90000"/>
                </a:lnSpc>
                <a:spcBef>
                  <a:spcPts val="0"/>
                </a:spcBef>
                <a:spcAft>
                  <a:spcPts val="0"/>
                </a:spcAft>
                <a:buClr>
                  <a:srgbClr val="000000"/>
                </a:buClr>
                <a:buSzPct val="25000"/>
                <a:buFont typeface="Arial"/>
                <a:buNone/>
                <a:defRPr/>
              </a:pPr>
              <a:r>
                <a:rPr lang="ja-JP" sz="900" b="1" i="0" u="none" strike="noStrike" cap="none">
                  <a:solidFill>
                    <a:srgbClr val="FFFFFF"/>
                  </a:solidFill>
                  <a:latin typeface="Arial"/>
                  <a:ea typeface="Arial"/>
                  <a:cs typeface="Arial"/>
                  <a:sym typeface="Arial"/>
                </a:rPr>
                <a:t>2 ヶ月目</a:t>
              </a:r>
              <a:endParaRPr sz="900" b="1" i="0" u="none" strike="noStrike" cap="none">
                <a:solidFill>
                  <a:srgbClr val="FFFFFF"/>
                </a:solidFill>
                <a:latin typeface="Arial"/>
                <a:ea typeface="Arial"/>
                <a:cs typeface="Arial"/>
                <a:sym typeface="Arial"/>
              </a:endParaRPr>
            </a:p>
          </p:txBody>
        </p:sp>
        <p:sp>
          <p:nvSpPr>
            <p:cNvPr id="200" name="Google Shape;194;p18"/>
            <p:cNvSpPr txBox="1"/>
            <p:nvPr/>
          </p:nvSpPr>
          <p:spPr>
            <a:xfrm>
              <a:off x="3169392" y="2941023"/>
              <a:ext cx="3177296" cy="848578"/>
            </a:xfrm>
            <a:prstGeom prst="rect">
              <a:avLst/>
            </a:prstGeom>
            <a:noFill/>
            <a:ln>
              <a:noFill/>
            </a:ln>
          </p:spPr>
          <p:txBody>
            <a:bodyPr wrap="square" lIns="91424" tIns="45700" rIns="91424" bIns="45700" anchor="t" anchorCtr="0">
              <a:noAutofit/>
            </a:bodyPr>
            <a:lstStyle/>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①</a:t>
              </a:r>
              <a:r>
                <a:rPr lang="ja-JP" altLang="en-US" sz="1000" b="0" i="0" u="none" strike="noStrike" cap="none">
                  <a:solidFill>
                    <a:schemeClr val="dk2"/>
                  </a:solidFill>
                  <a:latin typeface="Meiryo UI"/>
                </a:rPr>
                <a:t>midi</a:t>
              </a:r>
              <a:r>
                <a:rPr lang="ja-JP" altLang="en-US" sz="1000" b="0" i="0" u="none" strike="noStrike" cap="none">
                  <a:solidFill>
                    <a:schemeClr val="dk2"/>
                  </a:solidFill>
                  <a:latin typeface="Meiryo UI"/>
                  <a:ea typeface="Meiryo UI"/>
                </a:rPr>
                <a:t>読み込み方法を変更</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　　これに伴いモデルも変更</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rPr>
                <a:t>   </a:t>
              </a:r>
              <a:r>
                <a:rPr lang="ja-JP" altLang="en-US" sz="1000" b="0" i="0" u="none" strike="noStrike" cap="none">
                  <a:solidFill>
                    <a:srgbClr val="FF0000"/>
                  </a:solidFill>
                  <a:latin typeface="Meiryo UI"/>
                </a:rPr>
                <a:t>⇒ pretty</a:t>
              </a:r>
              <a:r>
                <a:rPr lang="en-US" altLang="ja-JP" sz="1000" b="0" i="0" u="none" strike="noStrike" cap="none">
                  <a:solidFill>
                    <a:srgbClr val="FF0000"/>
                  </a:solidFill>
                  <a:latin typeface="Meiryo UI"/>
                </a:rPr>
                <a:t>-</a:t>
              </a:r>
              <a:r>
                <a:rPr lang="ja-JP" altLang="en-US" sz="1000" b="0" i="0" u="none" strike="noStrike" cap="none">
                  <a:solidFill>
                    <a:srgbClr val="FF0000"/>
                  </a:solidFill>
                  <a:latin typeface="Meiryo UI"/>
                </a:rPr>
                <a:t>midi</a:t>
              </a:r>
              <a:r>
                <a:rPr lang="ja-JP" altLang="en-US" sz="1000" b="0" i="0" u="none" strike="noStrike" cap="none">
                  <a:solidFill>
                    <a:srgbClr val="FF0000"/>
                  </a:solidFill>
                  <a:latin typeface="Meiryo UI"/>
                  <a:ea typeface="Meiryo UI"/>
                </a:rPr>
                <a:t>ライブラリー使用</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rgbClr val="FF0000"/>
                  </a:solidFill>
                  <a:latin typeface="Meiryo UI"/>
                  <a:ea typeface="Meiryo UI"/>
                </a:rPr>
                <a:t>　　　</a:t>
              </a:r>
              <a:r>
                <a:rPr lang="en-US" altLang="ja-JP" sz="1000" b="0" i="0" u="none" strike="noStrike" cap="none">
                  <a:solidFill>
                    <a:srgbClr val="FF0000"/>
                  </a:solidFill>
                  <a:latin typeface="Meiryo UI"/>
                </a:rPr>
                <a:t>128</a:t>
              </a:r>
              <a:r>
                <a:rPr lang="ja-JP" altLang="en-US" sz="1000" b="0" i="0" u="none" strike="noStrike" cap="none">
                  <a:solidFill>
                    <a:srgbClr val="FF0000"/>
                  </a:solidFill>
                  <a:latin typeface="Meiryo UI"/>
                  <a:ea typeface="Meiryo UI"/>
                </a:rPr>
                <a:t>値分類化＋多層</a:t>
              </a:r>
              <a:r>
                <a:rPr lang="ja-JP" altLang="en-US" sz="1000" b="0" i="0" u="none" strike="noStrike" cap="none">
                  <a:solidFill>
                    <a:srgbClr val="FF0000"/>
                  </a:solidFill>
                  <a:latin typeface="Meiryo UI"/>
                </a:rPr>
                <a:t>LSTM</a:t>
              </a:r>
              <a:r>
                <a:rPr lang="en-US" altLang="ja-JP" sz="1000" b="0" i="0" u="none" strike="noStrike" cap="none">
                  <a:solidFill>
                    <a:srgbClr val="FF0000"/>
                  </a:solidFill>
                  <a:latin typeface="Meiryo UI"/>
                </a:rPr>
                <a:t>4</a:t>
              </a:r>
              <a:r>
                <a:rPr lang="ja-JP" altLang="en-US" sz="1000" b="0" i="0" u="none" strike="noStrike" cap="none">
                  <a:solidFill>
                    <a:srgbClr val="FF0000"/>
                  </a:solidFill>
                  <a:latin typeface="Meiryo UI"/>
                  <a:ea typeface="Meiryo UI"/>
                </a:rPr>
                <a:t>出力モデルに大改造</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②</a:t>
              </a:r>
              <a:r>
                <a:rPr lang="ja-JP" altLang="en-US" sz="1000" b="0" i="0" u="none" strike="noStrike" cap="none">
                  <a:solidFill>
                    <a:schemeClr val="dk2"/>
                  </a:solidFill>
                  <a:latin typeface="Meiryo UI"/>
                </a:rPr>
                <a:t>Tensorflow</a:t>
              </a:r>
              <a:r>
                <a:rPr lang="en-US" altLang="ja-JP" sz="1000" b="0" i="0" u="none" strike="noStrike" cap="none">
                  <a:solidFill>
                    <a:schemeClr val="dk2"/>
                  </a:solidFill>
                  <a:latin typeface="Meiryo UI"/>
                </a:rPr>
                <a:t>/</a:t>
              </a:r>
              <a:r>
                <a:rPr lang="ja-JP" altLang="en-US" sz="1000" b="0" i="0" u="none" strike="noStrike" cap="none">
                  <a:solidFill>
                    <a:schemeClr val="dk2"/>
                  </a:solidFill>
                  <a:latin typeface="Meiryo UI"/>
                </a:rPr>
                <a:t>keras</a:t>
              </a:r>
              <a:r>
                <a:rPr lang="ja-JP" altLang="en-US" sz="1000" b="0" i="0" u="none" strike="noStrike" cap="none">
                  <a:solidFill>
                    <a:schemeClr val="dk2"/>
                  </a:solidFill>
                  <a:latin typeface="Meiryo UI"/>
                  <a:ea typeface="Meiryo UI"/>
                </a:rPr>
                <a:t>を勉強</a:t>
              </a:r>
            </a:p>
            <a:p>
              <a:pPr marL="0" marR="0" lvl="0" indent="0" algn="l" rtl="0">
                <a:lnSpc>
                  <a:spcPct val="90000"/>
                </a:lnSpc>
                <a:spcBef>
                  <a:spcPts val="0"/>
                </a:spcBef>
                <a:spcAft>
                  <a:spcPts val="0"/>
                </a:spcAft>
                <a:buClr>
                  <a:srgbClr val="000000"/>
                </a:buClr>
                <a:buSzPct val="25000"/>
                <a:buFont typeface="Arial"/>
                <a:buNone/>
                <a:defRPr/>
              </a:pPr>
              <a:r>
                <a:rPr lang="ja-JP" altLang="en-US" sz="1000" b="0" i="0" u="none" strike="noStrike" cap="none">
                  <a:solidFill>
                    <a:schemeClr val="dk2"/>
                  </a:solidFill>
                  <a:latin typeface="Meiryo UI"/>
                  <a:ea typeface="Meiryo UI"/>
                </a:rPr>
                <a:t>　</a:t>
              </a:r>
              <a:r>
                <a:rPr lang="ja-JP" altLang="en-US" sz="1000" b="0" i="0" u="none" strike="noStrike" cap="none">
                  <a:solidFill>
                    <a:schemeClr val="dk2"/>
                  </a:solidFill>
                  <a:latin typeface="Meiryo UI"/>
                </a:rPr>
                <a:t> ⇒ </a:t>
              </a:r>
              <a:r>
                <a:rPr lang="en-US" altLang="ja-JP" sz="1000" b="0" i="0" u="none" strike="noStrike" cap="none">
                  <a:solidFill>
                    <a:schemeClr val="dk2"/>
                  </a:solidFill>
                  <a:latin typeface="Meiryo UI"/>
                </a:rPr>
                <a:t>/</a:t>
              </a:r>
              <a:r>
                <a:rPr lang="ja-JP" altLang="en-US" sz="1000" b="0" i="0" u="none" strike="noStrike" cap="none">
                  <a:solidFill>
                    <a:schemeClr val="dk2"/>
                  </a:solidFill>
                  <a:latin typeface="Meiryo UI"/>
                </a:rPr>
                <a:t>Dataset</a:t>
              </a:r>
              <a:r>
                <a:rPr lang="ja-JP" altLang="en-US" sz="1000" b="0" i="0" u="none" strike="noStrike" cap="none">
                  <a:solidFill>
                    <a:schemeClr val="dk2"/>
                  </a:solidFill>
                  <a:latin typeface="Meiryo UI"/>
                  <a:ea typeface="Meiryo UI"/>
                </a:rPr>
                <a:t>の作り方に大苦戦</a:t>
              </a:r>
              <a:endParaRPr lang="ja-JP" altLang="en-US" sz="1000" b="0" i="0" u="none" strike="noStrike" cap="none">
                <a:solidFill>
                  <a:schemeClr val="dk2"/>
                </a:solidFill>
                <a:latin typeface="Meiryo UI"/>
              </a:endParaRPr>
            </a:p>
          </p:txBody>
        </p:sp>
      </p:grpSp>
      <p:grpSp>
        <p:nvGrpSpPr>
          <p:cNvPr id="203" name="グループ化 202"/>
          <p:cNvGrpSpPr/>
          <p:nvPr/>
        </p:nvGrpSpPr>
        <p:grpSpPr>
          <a:xfrm>
            <a:off x="6020104" y="2751591"/>
            <a:ext cx="2613921" cy="1056728"/>
            <a:chOff x="6239179" y="2742066"/>
            <a:chExt cx="2613921" cy="1056728"/>
          </a:xfrm>
        </p:grpSpPr>
        <p:sp>
          <p:nvSpPr>
            <p:cNvPr id="192" name="Google Shape;192;p18"/>
            <p:cNvSpPr/>
            <p:nvPr/>
          </p:nvSpPr>
          <p:spPr>
            <a:xfrm>
              <a:off x="6239179" y="2742066"/>
              <a:ext cx="2500721" cy="210000"/>
            </a:xfrm>
            <a:prstGeom prst="homePlate">
              <a:avLst>
                <a:gd name="adj" fmla="val 50000"/>
              </a:avLst>
            </a:prstGeom>
            <a:solidFill>
              <a:srgbClr val="0070C0"/>
            </a:solidFill>
            <a:ln>
              <a:noFill/>
            </a:ln>
          </p:spPr>
          <p:txBody>
            <a:bodyPr wrap="square" lIns="91424" tIns="91424" rIns="91424" bIns="91424" anchor="ctr" anchorCtr="0">
              <a:noAutofit/>
            </a:bodyPr>
            <a:lstStyle/>
            <a:p>
              <a:pPr marL="0" marR="0" lvl="0" indent="0" algn="l" rtl="0">
                <a:lnSpc>
                  <a:spcPct val="100000"/>
                </a:lnSpc>
                <a:spcBef>
                  <a:spcPts val="0"/>
                </a:spcBef>
                <a:spcAft>
                  <a:spcPts val="0"/>
                </a:spcAft>
                <a:buClr>
                  <a:srgbClr val="000000"/>
                </a:buClr>
                <a:buSzPct val="25000"/>
                <a:buFont typeface="Arial"/>
                <a:buNone/>
                <a:defRPr/>
              </a:pPr>
              <a:endParaRPr sz="1400" b="0" i="0" u="none" strike="noStrike" cap="none">
                <a:solidFill>
                  <a:srgbClr val="000000"/>
                </a:solidFill>
                <a:latin typeface="Arial"/>
                <a:ea typeface="Arial"/>
                <a:cs typeface="Arial"/>
                <a:sym typeface="Arial"/>
              </a:endParaRPr>
            </a:p>
          </p:txBody>
        </p:sp>
        <p:sp>
          <p:nvSpPr>
            <p:cNvPr id="193" name="Google Shape;193;p18"/>
            <p:cNvSpPr txBox="1"/>
            <p:nvPr/>
          </p:nvSpPr>
          <p:spPr>
            <a:xfrm>
              <a:off x="6241559" y="2747125"/>
              <a:ext cx="1440265" cy="210000"/>
            </a:xfrm>
            <a:prstGeom prst="rect">
              <a:avLst/>
            </a:prstGeom>
            <a:noFill/>
            <a:ln>
              <a:noFill/>
            </a:ln>
          </p:spPr>
          <p:txBody>
            <a:bodyPr wrap="square" lIns="91424" tIns="45700" rIns="91424" bIns="45700" anchor="t" anchorCtr="0">
              <a:noAutofit/>
            </a:bodyPr>
            <a:lstStyle/>
            <a:p>
              <a:pPr marL="0" marR="0" lvl="0" indent="0" rtl="0">
                <a:lnSpc>
                  <a:spcPct val="90000"/>
                </a:lnSpc>
                <a:spcBef>
                  <a:spcPts val="0"/>
                </a:spcBef>
                <a:spcAft>
                  <a:spcPts val="0"/>
                </a:spcAft>
                <a:buClr>
                  <a:srgbClr val="000000"/>
                </a:buClr>
                <a:buSzPct val="25000"/>
                <a:buFont typeface="Arial"/>
                <a:buNone/>
                <a:defRPr/>
              </a:pPr>
              <a:r>
                <a:rPr lang="ja-JP" sz="900" b="1" i="0" u="none" strike="noStrike" cap="none">
                  <a:solidFill>
                    <a:srgbClr val="FFFFFF"/>
                  </a:solidFill>
                  <a:latin typeface="Arial"/>
                  <a:ea typeface="Arial"/>
                  <a:cs typeface="Arial"/>
                  <a:sym typeface="Arial"/>
                </a:rPr>
                <a:t>3 ヶ月目</a:t>
              </a:r>
              <a:r>
                <a:rPr lang="ja-JP" altLang="en-US" sz="900" b="1" i="0" u="none" strike="noStrike" cap="none">
                  <a:solidFill>
                    <a:srgbClr val="FFFFFF"/>
                  </a:solidFill>
                  <a:latin typeface="Arial"/>
                  <a:ea typeface="Arial"/>
                  <a:cs typeface="Arial"/>
                  <a:sym typeface="Arial"/>
                </a:rPr>
                <a:t>　（～</a:t>
              </a:r>
              <a:r>
                <a:rPr lang="en-US" altLang="ja-JP" sz="900" b="1" i="0" u="none" strike="noStrike" cap="none">
                  <a:solidFill>
                    <a:srgbClr val="FFFFFF"/>
                  </a:solidFill>
                  <a:latin typeface="Arial"/>
                  <a:ea typeface="Arial"/>
                  <a:cs typeface="Arial"/>
                  <a:sym typeface="Arial"/>
                </a:rPr>
                <a:t>9/20</a:t>
              </a:r>
              <a:r>
                <a:rPr lang="ja-JP" altLang="en-US" sz="900" b="1" i="0" u="none" strike="noStrike" cap="none">
                  <a:solidFill>
                    <a:srgbClr val="FFFFFF"/>
                  </a:solidFill>
                  <a:latin typeface="Arial"/>
                  <a:ea typeface="Arial"/>
                  <a:cs typeface="Arial"/>
                  <a:sym typeface="Arial"/>
                </a:rPr>
                <a:t>）</a:t>
              </a:r>
            </a:p>
          </p:txBody>
        </p:sp>
        <p:sp>
          <p:nvSpPr>
            <p:cNvPr id="201" name="Google Shape;194;p18"/>
            <p:cNvSpPr txBox="1"/>
            <p:nvPr/>
          </p:nvSpPr>
          <p:spPr>
            <a:xfrm>
              <a:off x="6269026" y="2950216"/>
              <a:ext cx="2584073" cy="848578"/>
            </a:xfrm>
            <a:prstGeom prst="rect">
              <a:avLst/>
            </a:prstGeom>
            <a:noFill/>
            <a:ln>
              <a:noFill/>
            </a:ln>
          </p:spPr>
          <p:txBody>
            <a:bodyPr wrap="square" lIns="91424" tIns="45700" rIns="91424"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000" b="0" i="0" u="none" strike="noStrike" kern="0" cap="none" spc="0" normalizeH="0" baseline="0">
                  <a:solidFill>
                    <a:srgbClr val="1A1A1A"/>
                  </a:solidFill>
                  <a:latin typeface="Meiryo UI"/>
                  <a:ea typeface="Meiryo UI"/>
                </a:rPr>
                <a:t>①</a:t>
              </a:r>
              <a:r>
                <a:rPr kumimoji="0" lang="ja-JP" altLang="en-US" sz="1000" b="0" i="0" u="none" strike="noStrike" kern="0" cap="none" spc="0" normalizeH="0" baseline="0">
                  <a:solidFill>
                    <a:srgbClr val="FF0000"/>
                  </a:solidFill>
                  <a:latin typeface="Meiryo UI"/>
                  <a:ea typeface="Meiryo UI"/>
                </a:rPr>
                <a:t>４出力の</a:t>
              </a:r>
              <a:r>
                <a:rPr kumimoji="0" lang="ja-JP" altLang="en-US" sz="1000" b="0" i="0" u="none" strike="noStrike" kern="0" cap="none" spc="0" normalizeH="0" baseline="0">
                  <a:solidFill>
                    <a:srgbClr val="FF0000"/>
                  </a:solidFill>
                  <a:latin typeface="Meiryo UI"/>
                </a:rPr>
                <a:t>Loss</a:t>
              </a:r>
              <a:r>
                <a:rPr kumimoji="0" lang="ja-JP" altLang="en-US" sz="1000" b="0" i="0" u="none" strike="noStrike" kern="0" cap="none" spc="0" normalizeH="0" baseline="0">
                  <a:solidFill>
                    <a:srgbClr val="FF0000"/>
                  </a:solidFill>
                  <a:latin typeface="Meiryo UI"/>
                  <a:ea typeface="Meiryo UI"/>
                </a:rPr>
                <a:t>バランスに苦悩！</a:t>
              </a: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000" b="0" i="0" u="none" strike="noStrike" kern="0" cap="none" spc="0" normalizeH="0" baseline="0">
                  <a:solidFill>
                    <a:srgbClr val="0000FF"/>
                  </a:solidFill>
                  <a:latin typeface="Meiryo UI"/>
                  <a:ea typeface="Meiryo UI"/>
                </a:rPr>
                <a:t>②動いた！音生成できた！でも・・・</a:t>
              </a: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000" b="0" i="0" u="none" strike="noStrike" kern="0" cap="none" spc="0" normalizeH="0" baseline="0">
                  <a:solidFill>
                    <a:srgbClr val="0000FF"/>
                  </a:solidFill>
                  <a:latin typeface="Meiryo UI"/>
                  <a:ea typeface="Meiryo UI"/>
                </a:rPr>
                <a:t>　</a:t>
              </a:r>
              <a:r>
                <a:rPr kumimoji="0" lang="ja-JP" altLang="en-US" sz="1000" b="0" i="0" u="none" strike="noStrike" kern="0" cap="none" spc="0" normalizeH="0" baseline="0">
                  <a:solidFill>
                    <a:srgbClr val="0000FF"/>
                  </a:solidFill>
                  <a:latin typeface="Meiryo UI"/>
                </a:rPr>
                <a:t> </a:t>
              </a:r>
              <a:r>
                <a:rPr kumimoji="0" lang="ja-JP" altLang="en-US" sz="1000" b="0" i="0" u="none" strike="noStrike" kern="0" cap="none" spc="0" normalizeH="0" baseline="0">
                  <a:solidFill>
                    <a:srgbClr val="0000FF"/>
                  </a:solidFill>
                  <a:latin typeface="Meiryo UI"/>
                  <a:ea typeface="Meiryo UI"/>
                </a:rPr>
                <a:t>生成されて音が、幼稚園生が弾いた感じに</a:t>
              </a: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000" b="0" i="0" u="none" strike="noStrike" kern="0" cap="none" spc="0" normalizeH="0" baseline="0">
                  <a:solidFill>
                    <a:srgbClr val="1A1A1A"/>
                  </a:solidFill>
                  <a:latin typeface="Meiryo UI"/>
                  <a:ea typeface="Meiryo UI"/>
                </a:rPr>
                <a:t>③マシな音を生成するように</a:t>
              </a:r>
              <a:r>
                <a:rPr kumimoji="0" lang="ja-JP" altLang="en-US" sz="1000" b="0" i="0" u="none" strike="noStrike" kern="0" cap="none" spc="0" normalizeH="0" baseline="0">
                  <a:solidFill>
                    <a:srgbClr val="0000FF"/>
                  </a:solidFill>
                  <a:latin typeface="Meiryo UI"/>
                  <a:ea typeface="Meiryo UI"/>
                </a:rPr>
                <a:t>前処理を改善</a:t>
              </a: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000" b="0" i="0" u="none" strike="noStrike" kern="0" cap="none" spc="0" normalizeH="0" baseline="0">
                  <a:solidFill>
                    <a:srgbClr val="1A1A1A"/>
                  </a:solidFill>
                  <a:latin typeface="Meiryo UI"/>
                  <a:ea typeface="Meiryo UI"/>
                </a:rPr>
                <a:t>④似たモデルで学習させても似た結果に。</a:t>
              </a:r>
            </a:p>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000" b="0" i="0" u="none" strike="noStrike" kern="0" cap="none" spc="0" normalizeH="0" baseline="0">
                  <a:solidFill>
                    <a:srgbClr val="1A1A1A"/>
                  </a:solidFill>
                  <a:latin typeface="Meiryo UI"/>
                </a:rPr>
                <a:t>⇒</a:t>
              </a:r>
              <a:r>
                <a:rPr kumimoji="0" lang="ja-JP" altLang="en-US" sz="1000" b="0" i="0" u="none" strike="noStrike" kern="0" cap="none" spc="0" normalizeH="0" baseline="0">
                  <a:solidFill>
                    <a:srgbClr val="1A1A1A"/>
                  </a:solidFill>
                  <a:latin typeface="Meiryo UI"/>
                  <a:ea typeface="Meiryo UI"/>
                </a:rPr>
                <a:t>　むしろモデル・評価指標の問題と判断　　</a:t>
              </a:r>
              <a:endParaRPr kumimoji="0" lang="ja-JP" altLang="en-US" sz="1000" b="0" i="0" u="none" strike="noStrike" kern="0" cap="none" spc="0" normalizeH="0" baseline="0">
                <a:solidFill>
                  <a:srgbClr val="1A1A1A"/>
                </a:solidFill>
                <a:latin typeface="Meiryo UI"/>
              </a:endParaRPr>
            </a:p>
          </p:txBody>
        </p:sp>
      </p:grpSp>
      <p:sp>
        <p:nvSpPr>
          <p:cNvPr id="204" name="Google Shape;199;p18"/>
          <p:cNvSpPr txBox="1"/>
          <p:nvPr/>
        </p:nvSpPr>
        <p:spPr>
          <a:xfrm>
            <a:off x="872248" y="4284805"/>
            <a:ext cx="2726162" cy="321292"/>
          </a:xfrm>
          <a:prstGeom prst="rect">
            <a:avLst/>
          </a:prstGeom>
          <a:noFill/>
          <a:ln>
            <a:solidFill>
              <a:schemeClr val="lt1"/>
            </a:solidFill>
          </a:ln>
        </p:spPr>
        <p:txBody>
          <a:bodyPr wrap="square" lIns="91424" tIns="45700" rIns="91424" bIns="45700" anchor="t" anchorCtr="0">
            <a:noAutofit/>
          </a:bodyPr>
          <a:lstStyle/>
          <a:p>
            <a:pPr marL="152400" marR="0" lvl="0" indent="0" rtl="0">
              <a:lnSpc>
                <a:spcPct val="90000"/>
              </a:lnSpc>
              <a:spcBef>
                <a:spcPts val="0"/>
              </a:spcBef>
              <a:spcAft>
                <a:spcPts val="0"/>
              </a:spcAft>
              <a:buClr>
                <a:schemeClr val="dk2"/>
              </a:buClr>
              <a:buSzPct val="25000"/>
              <a:buFont typeface="Arial"/>
              <a:buNone/>
              <a:defRPr/>
            </a:pPr>
            <a:r>
              <a:rPr lang="ja-JP" altLang="en-US" sz="2000" b="1" i="0" u="none" strike="noStrike" cap="none">
                <a:solidFill>
                  <a:srgbClr val="0000FF"/>
                </a:solidFill>
                <a:latin typeface="Meiryo UI"/>
                <a:ea typeface="Meiryo UI"/>
              </a:rPr>
              <a:t>でも、聞いてください！</a:t>
            </a:r>
          </a:p>
        </p:txBody>
      </p:sp>
      <p:sp>
        <p:nvSpPr>
          <p:cNvPr id="205" name="Google Shape;199;p18"/>
          <p:cNvSpPr txBox="1"/>
          <p:nvPr/>
        </p:nvSpPr>
        <p:spPr>
          <a:xfrm>
            <a:off x="3818856" y="3845841"/>
            <a:ext cx="4816191" cy="864384"/>
          </a:xfrm>
          <a:prstGeom prst="rect">
            <a:avLst/>
          </a:prstGeom>
          <a:noFill/>
          <a:ln>
            <a:noFill/>
          </a:ln>
        </p:spPr>
        <p:txBody>
          <a:bodyPr wrap="square" lIns="91424" tIns="45700" rIns="91424" bIns="45700" anchor="t" anchorCtr="0">
            <a:noAutofit/>
          </a:bodyPr>
          <a:lstStyle/>
          <a:p>
            <a:pPr marL="152400" marR="0" lvl="0" indent="0" algn="l" rtl="0">
              <a:lnSpc>
                <a:spcPct val="90000"/>
              </a:lnSpc>
              <a:spcBef>
                <a:spcPts val="0"/>
              </a:spcBef>
              <a:spcAft>
                <a:spcPts val="0"/>
              </a:spcAft>
              <a:buClr>
                <a:schemeClr val="dk2"/>
              </a:buClr>
              <a:buSzPct val="25000"/>
              <a:buFont typeface="Arial"/>
              <a:buNone/>
              <a:defRPr/>
            </a:pPr>
            <a:r>
              <a:rPr lang="ja-JP" altLang="en-US" sz="1100" b="0" i="0" u="none" strike="noStrike" cap="none">
                <a:solidFill>
                  <a:srgbClr val="000000"/>
                </a:solidFill>
                <a:latin typeface="Meiryo UI"/>
                <a:ea typeface="Meiryo UI"/>
              </a:rPr>
              <a:t>【今後】</a:t>
            </a:r>
          </a:p>
          <a:p>
            <a:pPr marL="152400" marR="0" lvl="0" indent="0" algn="l" rtl="0">
              <a:lnSpc>
                <a:spcPct val="90000"/>
              </a:lnSpc>
              <a:spcBef>
                <a:spcPts val="0"/>
              </a:spcBef>
              <a:spcAft>
                <a:spcPts val="0"/>
              </a:spcAft>
              <a:buClr>
                <a:schemeClr val="dk2"/>
              </a:buClr>
              <a:buSzPct val="25000"/>
              <a:buFont typeface="Arial"/>
              <a:buNone/>
              <a:defRPr/>
            </a:pPr>
            <a:r>
              <a:rPr lang="ja-JP" altLang="en-US" sz="1100" b="0" i="0" u="none" strike="noStrike" cap="none">
                <a:solidFill>
                  <a:srgbClr val="000000"/>
                </a:solidFill>
                <a:latin typeface="Meiryo UI"/>
                <a:ea typeface="Meiryo UI"/>
              </a:rPr>
              <a:t>①評価指標の深耕 （理解、最適な採用など）</a:t>
            </a:r>
          </a:p>
          <a:p>
            <a:pPr marL="152400" marR="0" lvl="0" indent="0" algn="l" rtl="0">
              <a:lnSpc>
                <a:spcPct val="90000"/>
              </a:lnSpc>
              <a:spcBef>
                <a:spcPts val="0"/>
              </a:spcBef>
              <a:spcAft>
                <a:spcPts val="0"/>
              </a:spcAft>
              <a:buClr>
                <a:schemeClr val="dk2"/>
              </a:buClr>
              <a:buSzPct val="25000"/>
              <a:buFont typeface="Arial"/>
              <a:buNone/>
              <a:defRPr/>
            </a:pPr>
            <a:r>
              <a:rPr lang="ja-JP" altLang="en-US" sz="1100" b="0" i="0" u="none" strike="noStrike" cap="none">
                <a:solidFill>
                  <a:srgbClr val="000000"/>
                </a:solidFill>
                <a:latin typeface="Meiryo UI"/>
                <a:ea typeface="Meiryo UI"/>
              </a:rPr>
              <a:t>②資格取得に向け勉強：E資格（</a:t>
            </a:r>
            <a:r>
              <a:rPr lang="en-US" altLang="ja-JP" sz="1100" b="0" i="0" u="none" strike="noStrike" cap="none">
                <a:solidFill>
                  <a:srgbClr val="000000"/>
                </a:solidFill>
                <a:latin typeface="Meiryo UI"/>
                <a:ea typeface="Meiryo UI"/>
              </a:rPr>
              <a:t>23/</a:t>
            </a:r>
            <a:r>
              <a:rPr lang="ja-JP" altLang="en-US" sz="1100" b="0" i="0" u="none" strike="noStrike" cap="none">
                <a:solidFill>
                  <a:srgbClr val="000000"/>
                </a:solidFill>
                <a:latin typeface="Meiryo UI"/>
                <a:ea typeface="Meiryo UI"/>
              </a:rPr>
              <a:t>２月）、統計</a:t>
            </a:r>
            <a:r>
              <a:rPr lang="en-US" altLang="ja-JP" sz="1100" b="0" i="0" u="none" strike="noStrike" cap="none">
                <a:solidFill>
                  <a:srgbClr val="000000"/>
                </a:solidFill>
                <a:latin typeface="Meiryo UI"/>
                <a:ea typeface="Meiryo UI"/>
              </a:rPr>
              <a:t>2</a:t>
            </a:r>
            <a:r>
              <a:rPr lang="ja-JP" altLang="en-US" sz="1100" b="0" i="0" u="none" strike="noStrike" cap="none">
                <a:solidFill>
                  <a:srgbClr val="000000"/>
                </a:solidFill>
                <a:latin typeface="Meiryo UI"/>
                <a:ea typeface="Meiryo UI"/>
              </a:rPr>
              <a:t>級、G検定</a:t>
            </a:r>
          </a:p>
          <a:p>
            <a:pPr marL="152400" marR="0" lvl="0" indent="0" algn="l" rtl="0">
              <a:lnSpc>
                <a:spcPct val="90000"/>
              </a:lnSpc>
              <a:spcBef>
                <a:spcPts val="0"/>
              </a:spcBef>
              <a:spcAft>
                <a:spcPts val="0"/>
              </a:spcAft>
              <a:buClr>
                <a:schemeClr val="dk2"/>
              </a:buClr>
              <a:buSzPct val="25000"/>
              <a:buFont typeface="Arial"/>
              <a:buNone/>
              <a:defRPr/>
            </a:pPr>
            <a:r>
              <a:rPr lang="ja-JP" altLang="en-US" sz="1100" b="0" i="0" u="none" strike="noStrike" cap="none">
                <a:solidFill>
                  <a:srgbClr val="000000"/>
                </a:solidFill>
                <a:latin typeface="Meiryo UI"/>
                <a:ea typeface="Meiryo UI"/>
              </a:rPr>
              <a:t>③業務で「逆問題」に取り組み工程改善トライ</a:t>
            </a:r>
          </a:p>
          <a:p>
            <a:pPr marL="152400" marR="0" lvl="0" indent="0" algn="l" rtl="0">
              <a:lnSpc>
                <a:spcPct val="90000"/>
              </a:lnSpc>
              <a:spcBef>
                <a:spcPts val="0"/>
              </a:spcBef>
              <a:spcAft>
                <a:spcPts val="0"/>
              </a:spcAft>
              <a:buClr>
                <a:schemeClr val="dk2"/>
              </a:buClr>
              <a:buSzPct val="25000"/>
              <a:buFont typeface="Arial"/>
              <a:buNone/>
              <a:defRPr/>
            </a:pPr>
            <a:r>
              <a:rPr lang="ja-JP" altLang="en-US" sz="1100" b="0" i="0" u="none" strike="noStrike" cap="none">
                <a:solidFill>
                  <a:srgbClr val="000000"/>
                </a:solidFill>
                <a:latin typeface="Meiryo UI"/>
                <a:ea typeface="Meiryo UI"/>
              </a:rPr>
              <a:t>④</a:t>
            </a:r>
            <a:r>
              <a:rPr lang="en-US" altLang="ja-JP" sz="1100" b="0" i="0" u="none" strike="noStrike" cap="none">
                <a:solidFill>
                  <a:srgbClr val="000000"/>
                </a:solidFill>
                <a:latin typeface="Meiryo UI"/>
                <a:ea typeface="Meiryo UI"/>
              </a:rPr>
              <a:t>1</a:t>
            </a:r>
            <a:r>
              <a:rPr lang="ja-JP" altLang="en-US" sz="1100" b="0" i="0" u="none" strike="noStrike" cap="none">
                <a:solidFill>
                  <a:srgbClr val="000000"/>
                </a:solidFill>
                <a:latin typeface="Meiryo UI"/>
                <a:ea typeface="Meiryo UI"/>
              </a:rPr>
              <a:t>年後にモデルtransfomerで、自動作曲AIにトライ＠spotify音源で）</a:t>
            </a:r>
          </a:p>
        </p:txBody>
      </p:sp>
      <p:sp>
        <p:nvSpPr>
          <p:cNvPr id="207" name="Google Shape;199;p18"/>
          <p:cNvSpPr txBox="1"/>
          <p:nvPr/>
        </p:nvSpPr>
        <p:spPr>
          <a:xfrm>
            <a:off x="528762" y="4089919"/>
            <a:ext cx="3083831" cy="280977"/>
          </a:xfrm>
          <a:prstGeom prst="rect">
            <a:avLst/>
          </a:prstGeom>
          <a:noFill/>
          <a:ln>
            <a:noFill/>
          </a:ln>
        </p:spPr>
        <p:txBody>
          <a:bodyPr wrap="square" lIns="91424" tIns="45700" rIns="91424" bIns="45700" anchor="t" anchorCtr="0">
            <a:noAutofit/>
          </a:bodyPr>
          <a:lstStyle/>
          <a:p>
            <a:pPr marL="152400" marR="0" lvl="0" indent="0" algn="l" rtl="0">
              <a:lnSpc>
                <a:spcPct val="90000"/>
              </a:lnSpc>
              <a:spcBef>
                <a:spcPts val="0"/>
              </a:spcBef>
              <a:spcAft>
                <a:spcPts val="0"/>
              </a:spcAft>
              <a:buClr>
                <a:schemeClr val="dk2"/>
              </a:buClr>
              <a:buSzPct val="25000"/>
              <a:buFont typeface="Arial"/>
              <a:buNone/>
              <a:defRPr/>
            </a:pPr>
            <a:r>
              <a:rPr lang="ja-JP" altLang="en-US" sz="1100" b="1" i="0" u="none" strike="noStrike" cap="none">
                <a:solidFill>
                  <a:srgbClr val="000000"/>
                </a:solidFill>
                <a:latin typeface="Meiryo UI"/>
                <a:ea typeface="Meiryo UI"/>
              </a:rPr>
              <a:t>生成された、でも期待したものではなかった・・・</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フローチャート: 処理 60"/>
          <p:cNvSpPr/>
          <p:nvPr/>
        </p:nvSpPr>
        <p:spPr>
          <a:xfrm>
            <a:off x="438150" y="3238500"/>
            <a:ext cx="5391150" cy="1733550"/>
          </a:xfrm>
          <a:prstGeom prst="flowChartProcess">
            <a:avLst/>
          </a:prstGeom>
          <a:noFill/>
          <a:ln w="12700">
            <a:solidFill>
              <a:schemeClr val="accent1">
                <a:shade val="20000"/>
              </a:schemeClr>
            </a:solidFill>
            <a:prstDash val="sysDot"/>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2" name="テキスト ボックス 11"/>
          <p:cNvSpPr txBox="1"/>
          <p:nvPr/>
        </p:nvSpPr>
        <p:spPr>
          <a:xfrm>
            <a:off x="180915" y="143653"/>
            <a:ext cx="6855059" cy="330692"/>
          </a:xfrm>
          <a:prstGeom prst="rect">
            <a:avLst/>
          </a:prstGeom>
          <a:solidFill>
            <a:srgbClr val="0000FF"/>
          </a:solidFill>
          <a:ln>
            <a:solidFill>
              <a:srgbClr val="0000FF"/>
            </a:solidFill>
          </a:ln>
        </p:spPr>
        <p:txBody>
          <a:bodyPr wrap="square">
            <a:spAutoFit/>
          </a:bodyPr>
          <a:lstStyle/>
          <a:p>
            <a:pPr algn="ctr">
              <a:defRPr/>
            </a:pPr>
            <a:r>
              <a:rPr lang="ja-JP" altLang="en-US" sz="1600" b="1">
                <a:solidFill>
                  <a:schemeClr val="lt1"/>
                </a:solidFill>
                <a:latin typeface="Meiryo UI"/>
              </a:rPr>
              <a:t>midi</a:t>
            </a:r>
            <a:r>
              <a:rPr lang="ja-JP" altLang="en-US" sz="1600" b="1">
                <a:solidFill>
                  <a:schemeClr val="lt1"/>
                </a:solidFill>
                <a:latin typeface="Meiryo UI"/>
                <a:ea typeface="Meiryo UI"/>
              </a:rPr>
              <a:t>データの数値化</a:t>
            </a:r>
            <a:r>
              <a:rPr lang="en-US" altLang="ja-JP" sz="1600" b="1">
                <a:solidFill>
                  <a:schemeClr val="lt1"/>
                </a:solidFill>
                <a:latin typeface="Meiryo UI"/>
                <a:ea typeface="Meiryo UI"/>
              </a:rPr>
              <a:t>&amp;</a:t>
            </a:r>
            <a:r>
              <a:rPr lang="ja-JP" altLang="en-US" sz="1600" b="1">
                <a:solidFill>
                  <a:schemeClr val="lt1"/>
                </a:solidFill>
                <a:latin typeface="Meiryo UI"/>
              </a:rPr>
              <a:t>Tensor Dataset</a:t>
            </a:r>
            <a:r>
              <a:rPr lang="ja-JP" altLang="en-US" sz="1600" b="1">
                <a:solidFill>
                  <a:schemeClr val="lt1"/>
                </a:solidFill>
                <a:latin typeface="Meiryo UI"/>
                <a:ea typeface="Meiryo UI"/>
              </a:rPr>
              <a:t>化（苦労した点・工夫した点の</a:t>
            </a:r>
            <a:r>
              <a:rPr lang="en-US" altLang="ja-JP" sz="1600" b="1">
                <a:solidFill>
                  <a:schemeClr val="lt1"/>
                </a:solidFill>
                <a:latin typeface="Meiryo UI"/>
                <a:ea typeface="Meiryo UI"/>
              </a:rPr>
              <a:t>1</a:t>
            </a:r>
            <a:r>
              <a:rPr lang="ja-JP" altLang="en-US" sz="1600" b="1">
                <a:solidFill>
                  <a:schemeClr val="lt1"/>
                </a:solidFill>
                <a:latin typeface="Meiryo UI"/>
                <a:ea typeface="Meiryo UI"/>
              </a:rPr>
              <a:t>つ）</a:t>
            </a:r>
          </a:p>
        </p:txBody>
      </p:sp>
      <p:grpSp>
        <p:nvGrpSpPr>
          <p:cNvPr id="53" name="グループ化 52"/>
          <p:cNvGrpSpPr/>
          <p:nvPr/>
        </p:nvGrpSpPr>
        <p:grpSpPr>
          <a:xfrm>
            <a:off x="612353" y="2655906"/>
            <a:ext cx="5529862" cy="2254205"/>
            <a:chOff x="294735" y="-283422"/>
            <a:chExt cx="5529862" cy="2254205"/>
          </a:xfrm>
        </p:grpSpPr>
        <p:pic>
          <p:nvPicPr>
            <p:cNvPr id="4" name="図 3"/>
            <p:cNvPicPr>
              <a:picLocks noChangeAspect="1"/>
            </p:cNvPicPr>
            <p:nvPr/>
          </p:nvPicPr>
          <p:blipFill rotWithShape="1">
            <a:blip r:embed="rId2"/>
            <a:stretch>
              <a:fillRect/>
            </a:stretch>
          </p:blipFill>
          <p:spPr>
            <a:xfrm>
              <a:off x="3196807" y="553268"/>
              <a:ext cx="2161231" cy="1417514"/>
            </a:xfrm>
            <a:prstGeom prst="rect">
              <a:avLst/>
            </a:prstGeom>
          </p:spPr>
        </p:pic>
        <p:pic>
          <p:nvPicPr>
            <p:cNvPr id="5" name="図 4"/>
            <p:cNvPicPr>
              <a:picLocks noChangeAspect="1"/>
            </p:cNvPicPr>
            <p:nvPr/>
          </p:nvPicPr>
          <p:blipFill rotWithShape="1">
            <a:blip r:embed="rId3"/>
            <a:stretch>
              <a:fillRect/>
            </a:stretch>
          </p:blipFill>
          <p:spPr>
            <a:xfrm>
              <a:off x="2049190" y="595265"/>
              <a:ext cx="1175476" cy="807605"/>
            </a:xfrm>
            <a:prstGeom prst="rect">
              <a:avLst/>
            </a:prstGeom>
          </p:spPr>
        </p:pic>
        <p:pic>
          <p:nvPicPr>
            <p:cNvPr id="7" name="図 6"/>
            <p:cNvPicPr>
              <a:picLocks noChangeAspect="1"/>
            </p:cNvPicPr>
            <p:nvPr/>
          </p:nvPicPr>
          <p:blipFill rotWithShape="1">
            <a:blip r:embed="rId4"/>
            <a:stretch>
              <a:fillRect/>
            </a:stretch>
          </p:blipFill>
          <p:spPr>
            <a:xfrm>
              <a:off x="307972" y="583709"/>
              <a:ext cx="1494096" cy="1204564"/>
            </a:xfrm>
            <a:prstGeom prst="rect">
              <a:avLst/>
            </a:prstGeom>
          </p:spPr>
        </p:pic>
        <p:sp>
          <p:nvSpPr>
            <p:cNvPr id="10" name="フローチャート: 処理 9"/>
            <p:cNvSpPr/>
            <p:nvPr/>
          </p:nvSpPr>
          <p:spPr>
            <a:xfrm>
              <a:off x="294735" y="570781"/>
              <a:ext cx="467264" cy="634999"/>
            </a:xfrm>
            <a:prstGeom prst="flowChartProcess">
              <a:avLst/>
            </a:prstGeom>
            <a:noFill/>
            <a:ln>
              <a:solidFill>
                <a:srgbClr val="0000FF"/>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1" name="フリーフォーム: 図形 10"/>
            <p:cNvSpPr/>
            <p:nvPr/>
          </p:nvSpPr>
          <p:spPr>
            <a:xfrm>
              <a:off x="777006" y="468510"/>
              <a:ext cx="1257189" cy="215908"/>
            </a:xfrm>
            <a:custGeom>
              <a:avLst/>
              <a:gdLst>
                <a:gd name="connsiteX0" fmla="*/ -3025 w 1574689"/>
                <a:gd name="connsiteY0" fmla="*/ 186139 h 185955"/>
                <a:gd name="connsiteX1" fmla="*/ 548106 w 1574689"/>
                <a:gd name="connsiteY1" fmla="*/ 431 h 185955"/>
                <a:gd name="connsiteX2" fmla="*/ 1578483 w 1574689"/>
                <a:gd name="connsiteY2" fmla="*/ 120243 h 185955"/>
              </a:gdLst>
              <a:ahLst/>
              <a:cxnLst>
                <a:cxn ang="0">
                  <a:pos x="connsiteX0" y="connsiteY0"/>
                </a:cxn>
                <a:cxn ang="0">
                  <a:pos x="connsiteX1" y="connsiteY1"/>
                </a:cxn>
                <a:cxn ang="0">
                  <a:pos x="connsiteX2" y="connsiteY2"/>
                </a:cxn>
              </a:cxnLst>
              <a:rect l="l" t="t" r="r" b="b"/>
              <a:pathLst>
                <a:path w="1574689" h="185955">
                  <a:moveTo>
                    <a:pt x="-3025" y="186139"/>
                  </a:moveTo>
                  <a:cubicBezTo>
                    <a:pt x="88829" y="155187"/>
                    <a:pt x="284521" y="11414"/>
                    <a:pt x="548106" y="431"/>
                  </a:cubicBezTo>
                  <a:cubicBezTo>
                    <a:pt x="811691" y="-10551"/>
                    <a:pt x="1406754" y="100274"/>
                    <a:pt x="1578483" y="120243"/>
                  </a:cubicBezTo>
                </a:path>
              </a:pathLst>
            </a:custGeom>
            <a:noFill/>
            <a:ln>
              <a:solidFill>
                <a:srgbClr val="0000FF"/>
              </a:solidFill>
              <a:headEnd w="med" len="med"/>
              <a:tailEnd type="arrow" w="med" len="med"/>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3" name="テキスト ボックス 12"/>
            <p:cNvSpPr txBox="1"/>
            <p:nvPr/>
          </p:nvSpPr>
          <p:spPr>
            <a:xfrm>
              <a:off x="2043980" y="395256"/>
              <a:ext cx="958491" cy="212439"/>
            </a:xfrm>
            <a:prstGeom prst="rect">
              <a:avLst/>
            </a:prstGeom>
            <a:solidFill>
              <a:srgbClr val="FFFFFF"/>
            </a:solidFill>
            <a:ln>
              <a:solidFill>
                <a:schemeClr val="lt1"/>
              </a:solidFill>
            </a:ln>
          </p:spPr>
          <p:txBody>
            <a:bodyPr wrap="square">
              <a:spAutoFit/>
            </a:bodyPr>
            <a:lstStyle/>
            <a:p>
              <a:pPr>
                <a:defRPr/>
              </a:pPr>
              <a:r>
                <a:rPr lang="ja-JP" altLang="en-US" sz="800">
                  <a:highlight>
                    <a:srgbClr val="FFFFFF"/>
                  </a:highlight>
                  <a:latin typeface="Meiryo UI"/>
                </a:rPr>
                <a:t>midi</a:t>
              </a:r>
              <a:r>
                <a:rPr lang="ja-JP" altLang="en-US" sz="800">
                  <a:highlight>
                    <a:srgbClr val="FFFFFF"/>
                  </a:highlight>
                  <a:latin typeface="Meiryo UI"/>
                  <a:ea typeface="Meiryo UI"/>
                </a:rPr>
                <a:t>データの中身</a:t>
              </a:r>
              <a:endParaRPr lang="ja-JP" altLang="en-US" sz="800">
                <a:highlight>
                  <a:srgbClr val="FFFFFF"/>
                </a:highlight>
                <a:latin typeface="Meiryo UI"/>
              </a:endParaRPr>
            </a:p>
          </p:txBody>
        </p:sp>
        <p:sp>
          <p:nvSpPr>
            <p:cNvPr id="17" name="テキスト ボックス 16"/>
            <p:cNvSpPr txBox="1"/>
            <p:nvPr/>
          </p:nvSpPr>
          <p:spPr>
            <a:xfrm>
              <a:off x="3466621" y="-199606"/>
              <a:ext cx="2356570" cy="211121"/>
            </a:xfrm>
            <a:prstGeom prst="rect">
              <a:avLst/>
            </a:prstGeom>
          </p:spPr>
          <p:txBody>
            <a:bodyPr wrap="square">
              <a:spAutoFit/>
            </a:bodyPr>
            <a:lstStyle/>
            <a:p>
              <a:pPr>
                <a:defRPr/>
              </a:pPr>
              <a:r>
                <a:rPr lang="ja-JP" altLang="en-US" sz="800">
                  <a:solidFill>
                    <a:srgbClr val="0000FF"/>
                  </a:solidFill>
                  <a:latin typeface="Meiryo UI"/>
                </a:rPr>
                <a:t>pretty</a:t>
              </a:r>
              <a:r>
                <a:rPr lang="en-US" altLang="ja-JP" sz="800">
                  <a:solidFill>
                    <a:srgbClr val="0000FF"/>
                  </a:solidFill>
                  <a:latin typeface="Meiryo UI"/>
                </a:rPr>
                <a:t>-</a:t>
              </a:r>
              <a:r>
                <a:rPr lang="ja-JP" altLang="en-US" sz="800">
                  <a:solidFill>
                    <a:srgbClr val="0000FF"/>
                  </a:solidFill>
                  <a:latin typeface="Meiryo UI"/>
                </a:rPr>
                <a:t>midi</a:t>
              </a:r>
              <a:r>
                <a:rPr lang="ja-JP" altLang="en-US" sz="800">
                  <a:solidFill>
                    <a:srgbClr val="0000FF"/>
                  </a:solidFill>
                  <a:latin typeface="Meiryo UI"/>
                  <a:ea typeface="Meiryo UI"/>
                </a:rPr>
                <a:t>ライブラリー使用して数値化</a:t>
              </a:r>
            </a:p>
          </p:txBody>
        </p:sp>
        <p:sp>
          <p:nvSpPr>
            <p:cNvPr id="50" name="テキスト ボックス 49"/>
            <p:cNvSpPr txBox="1"/>
            <p:nvPr/>
          </p:nvSpPr>
          <p:spPr>
            <a:xfrm>
              <a:off x="3807961" y="-30791"/>
              <a:ext cx="2016636" cy="337583"/>
            </a:xfrm>
            <a:prstGeom prst="rect">
              <a:avLst/>
            </a:prstGeom>
          </p:spPr>
          <p:txBody>
            <a:bodyPr wrap="square">
              <a:spAutoFit/>
            </a:bodyPr>
            <a:lstStyle/>
            <a:p>
              <a:pPr>
                <a:defRPr/>
              </a:pPr>
              <a:r>
                <a:rPr lang="ja-JP" altLang="en-US" sz="800">
                  <a:solidFill>
                    <a:srgbClr val="0000FF"/>
                  </a:solidFill>
                  <a:latin typeface="Meiryo UI"/>
                </a:rPr>
                <a:t>＋music</a:t>
              </a:r>
              <a:r>
                <a:rPr lang="en-US" altLang="ja-JP" sz="800">
                  <a:solidFill>
                    <a:srgbClr val="0000FF"/>
                  </a:solidFill>
                  <a:latin typeface="Meiryo UI"/>
                </a:rPr>
                <a:t>21</a:t>
              </a:r>
              <a:r>
                <a:rPr lang="ja-JP" altLang="en-US" sz="800">
                  <a:solidFill>
                    <a:srgbClr val="0000FF"/>
                  </a:solidFill>
                  <a:latin typeface="Meiryo UI"/>
                  <a:ea typeface="Meiryo UI"/>
                </a:rPr>
                <a:t>ライブラリー使用して</a:t>
              </a:r>
            </a:p>
            <a:p>
              <a:pPr>
                <a:defRPr/>
              </a:pPr>
              <a:r>
                <a:rPr lang="ja-JP" altLang="en-US" sz="800">
                  <a:solidFill>
                    <a:srgbClr val="0000FF"/>
                  </a:solidFill>
                  <a:latin typeface="Meiryo UI"/>
                  <a:ea typeface="Meiryo UI"/>
                </a:rPr>
                <a:t>　 Key分析し、key</a:t>
              </a:r>
              <a:r>
                <a:rPr lang="en-US" altLang="ja-JP" sz="800">
                  <a:solidFill>
                    <a:srgbClr val="0000FF"/>
                  </a:solidFill>
                  <a:latin typeface="Meiryo UI"/>
                  <a:ea typeface="Meiryo UI"/>
                </a:rPr>
                <a:t>:</a:t>
              </a:r>
              <a:r>
                <a:rPr lang="ja-JP" altLang="en-US" sz="800">
                  <a:solidFill>
                    <a:srgbClr val="0000FF"/>
                  </a:solidFill>
                  <a:latin typeface="Meiryo UI"/>
                  <a:ea typeface="Meiryo UI"/>
                </a:rPr>
                <a:t>Cmajorに統合化</a:t>
              </a:r>
            </a:p>
          </p:txBody>
        </p:sp>
        <p:sp>
          <p:nvSpPr>
            <p:cNvPr id="51" name="フリーフォーム: 図形 50"/>
            <p:cNvSpPr/>
            <p:nvPr/>
          </p:nvSpPr>
          <p:spPr>
            <a:xfrm rot="14457479" flipV="1">
              <a:off x="2991621" y="111055"/>
              <a:ext cx="859700" cy="70742"/>
            </a:xfrm>
            <a:custGeom>
              <a:avLst/>
              <a:gdLst>
                <a:gd name="connsiteX0" fmla="*/ -3025 w 1574689"/>
                <a:gd name="connsiteY0" fmla="*/ 186139 h 185955"/>
                <a:gd name="connsiteX1" fmla="*/ 548106 w 1574689"/>
                <a:gd name="connsiteY1" fmla="*/ 431 h 185955"/>
                <a:gd name="connsiteX2" fmla="*/ 1578483 w 1574689"/>
                <a:gd name="connsiteY2" fmla="*/ 120243 h 185955"/>
              </a:gdLst>
              <a:ahLst/>
              <a:cxnLst>
                <a:cxn ang="0">
                  <a:pos x="connsiteX0" y="connsiteY0"/>
                </a:cxn>
                <a:cxn ang="0">
                  <a:pos x="connsiteX1" y="connsiteY1"/>
                </a:cxn>
                <a:cxn ang="0">
                  <a:pos x="connsiteX2" y="connsiteY2"/>
                </a:cxn>
              </a:cxnLst>
              <a:rect l="l" t="t" r="r" b="b"/>
              <a:pathLst>
                <a:path w="1574689" h="185955">
                  <a:moveTo>
                    <a:pt x="-3025" y="186139"/>
                  </a:moveTo>
                  <a:cubicBezTo>
                    <a:pt x="88829" y="155187"/>
                    <a:pt x="284521" y="11414"/>
                    <a:pt x="548106" y="431"/>
                  </a:cubicBezTo>
                  <a:cubicBezTo>
                    <a:pt x="811691" y="-10551"/>
                    <a:pt x="1406754" y="100274"/>
                    <a:pt x="1578483" y="120243"/>
                  </a:cubicBezTo>
                </a:path>
              </a:pathLst>
            </a:custGeom>
            <a:noFill/>
            <a:ln w="25400" cap="flat" cmpd="sng" algn="ctr">
              <a:solidFill>
                <a:srgbClr val="0000FF">
                  <a:alpha val="100000"/>
                </a:srgbClr>
              </a:solidFill>
              <a:prstDash val="solid"/>
              <a:headEnd w="med" len="med"/>
              <a:tailEnd type="arrow" w="med" len="med"/>
            </a:ln>
          </p:spPr>
          <p:txBody>
            <a:bodyPr anchor="ctr"/>
            <a:lstStyle/>
            <a:p>
              <a:pPr marL="0" marR="0" lvl="0" indent="0" algn="ctr" rtl="0" eaLnBrk="1" latinLnBrk="0" hangingPunct="1">
                <a:lnSpc>
                  <a:spcPct val="100000"/>
                </a:lnSpc>
                <a:spcBef>
                  <a:spcPts val="0"/>
                </a:spcBef>
                <a:spcAft>
                  <a:spcPts val="0"/>
                </a:spcAft>
                <a:buClr>
                  <a:srgbClr val="000000"/>
                </a:buClr>
                <a:buFont typeface="Arial"/>
                <a:buNone/>
                <a:defRPr/>
              </a:pPr>
              <a:endParaRPr kumimoji="0" lang="ja-JP" altLang="en-US" sz="1400" b="0" i="0" u="none" strike="noStrike" kern="0" cap="none" spc="0" normalizeH="0" baseline="0">
                <a:solidFill>
                  <a:srgbClr val="FFFFFF"/>
                </a:solidFill>
                <a:latin typeface="Arial"/>
                <a:ea typeface="ＭＳ Ｐゴシック"/>
                <a:cs typeface="ＭＳ Ｐゴシック"/>
              </a:endParaRPr>
            </a:p>
          </p:txBody>
        </p:sp>
      </p:grpSp>
      <p:grpSp>
        <p:nvGrpSpPr>
          <p:cNvPr id="60" name="グループ化 59"/>
          <p:cNvGrpSpPr/>
          <p:nvPr/>
        </p:nvGrpSpPr>
        <p:grpSpPr>
          <a:xfrm>
            <a:off x="96086" y="499733"/>
            <a:ext cx="8869276" cy="2462861"/>
            <a:chOff x="96086" y="499733"/>
            <a:chExt cx="8869276" cy="2462861"/>
          </a:xfrm>
        </p:grpSpPr>
        <p:pic>
          <p:nvPicPr>
            <p:cNvPr id="8" name="図 7"/>
            <p:cNvPicPr>
              <a:picLocks noChangeAspect="1"/>
            </p:cNvPicPr>
            <p:nvPr/>
          </p:nvPicPr>
          <p:blipFill rotWithShape="1">
            <a:blip r:embed="rId5"/>
            <a:stretch>
              <a:fillRect/>
            </a:stretch>
          </p:blipFill>
          <p:spPr>
            <a:xfrm>
              <a:off x="1968242" y="1900829"/>
              <a:ext cx="1909624" cy="715369"/>
            </a:xfrm>
            <a:prstGeom prst="rect">
              <a:avLst/>
            </a:prstGeom>
          </p:spPr>
        </p:pic>
        <p:pic>
          <p:nvPicPr>
            <p:cNvPr id="9" name="図 8"/>
            <p:cNvPicPr>
              <a:picLocks noChangeAspect="1"/>
            </p:cNvPicPr>
            <p:nvPr/>
          </p:nvPicPr>
          <p:blipFill rotWithShape="1">
            <a:blip r:embed="rId6"/>
            <a:srcRect r="26170"/>
            <a:stretch>
              <a:fillRect/>
            </a:stretch>
          </p:blipFill>
          <p:spPr>
            <a:xfrm>
              <a:off x="6251036" y="1140655"/>
              <a:ext cx="2714326" cy="1440485"/>
            </a:xfrm>
            <a:prstGeom prst="rect">
              <a:avLst/>
            </a:prstGeom>
          </p:spPr>
        </p:pic>
        <p:sp>
          <p:nvSpPr>
            <p:cNvPr id="15" name="テキスト ボックス 14"/>
            <p:cNvSpPr txBox="1"/>
            <p:nvPr/>
          </p:nvSpPr>
          <p:spPr>
            <a:xfrm>
              <a:off x="1922973" y="1399565"/>
              <a:ext cx="1848330" cy="484480"/>
            </a:xfrm>
            <a:prstGeom prst="rect">
              <a:avLst/>
            </a:prstGeom>
            <a:solidFill>
              <a:schemeClr val="lt1"/>
            </a:solidFill>
          </p:spPr>
          <p:txBody>
            <a:bodyPr wrap="square">
              <a:spAutoFit/>
            </a:bodyPr>
            <a:lstStyle/>
            <a:p>
              <a:pPr>
                <a:defRPr/>
              </a:pPr>
              <a:r>
                <a:rPr lang="ja-JP" altLang="en-US" sz="1000" b="1" u="sng">
                  <a:solidFill>
                    <a:srgbClr val="0000FF"/>
                  </a:solidFill>
                  <a:highlight>
                    <a:srgbClr val="FFFFFF"/>
                  </a:highlight>
                  <a:latin typeface="Meiryo UI"/>
                  <a:ea typeface="Meiryo UI"/>
                </a:rPr>
                <a:t>③音符</a:t>
              </a:r>
              <a:r>
                <a:rPr lang="en-US" altLang="ja-JP" sz="1000" b="1" u="sng">
                  <a:solidFill>
                    <a:srgbClr val="0000FF"/>
                  </a:solidFill>
                  <a:highlight>
                    <a:srgbClr val="FFFFFF"/>
                  </a:highlight>
                  <a:latin typeface="Meiryo UI"/>
                </a:rPr>
                <a:t>1</a:t>
              </a:r>
              <a:r>
                <a:rPr lang="ja-JP" altLang="en-US" sz="1000" b="1" u="sng">
                  <a:solidFill>
                    <a:srgbClr val="0000FF"/>
                  </a:solidFill>
                  <a:highlight>
                    <a:srgbClr val="FFFFFF"/>
                  </a:highlight>
                  <a:latin typeface="Meiryo UI"/>
                  <a:ea typeface="Meiryo UI"/>
                </a:rPr>
                <a:t>つ１つを</a:t>
              </a:r>
              <a:r>
                <a:rPr lang="en-US" altLang="ja-JP" sz="1000" b="1" u="sng">
                  <a:solidFill>
                    <a:srgbClr val="0000FF"/>
                  </a:solidFill>
                  <a:highlight>
                    <a:srgbClr val="FFFFFF"/>
                  </a:highlight>
                  <a:latin typeface="Meiryo UI"/>
                </a:rPr>
                <a:t>4</a:t>
              </a:r>
              <a:r>
                <a:rPr lang="ja-JP" altLang="en-US" sz="1000" b="1" u="sng">
                  <a:solidFill>
                    <a:srgbClr val="0000FF"/>
                  </a:solidFill>
                  <a:highlight>
                    <a:srgbClr val="FFFFFF"/>
                  </a:highlight>
                  <a:latin typeface="Meiryo UI"/>
                  <a:ea typeface="Meiryo UI"/>
                </a:rPr>
                <a:t>つの数値に</a:t>
              </a:r>
            </a:p>
            <a:p>
              <a:pPr>
                <a:defRPr/>
              </a:pPr>
              <a:r>
                <a:rPr lang="ja-JP" altLang="en-US" sz="800">
                  <a:highlight>
                    <a:srgbClr val="FFFFFF"/>
                  </a:highlight>
                  <a:latin typeface="Meiryo UI"/>
                  <a:ea typeface="Meiryo UI"/>
                </a:rPr>
                <a:t>⇒ </a:t>
              </a:r>
              <a:r>
                <a:rPr lang="ja-JP" altLang="en-US" sz="800">
                  <a:solidFill>
                    <a:srgbClr val="0000FF"/>
                  </a:solidFill>
                  <a:highlight>
                    <a:srgbClr val="FFFFFF"/>
                  </a:highlight>
                  <a:latin typeface="Meiryo UI"/>
                  <a:ea typeface="Meiryo UI"/>
                </a:rPr>
                <a:t>④</a:t>
              </a:r>
              <a:r>
                <a:rPr lang="ja-JP" altLang="en-US" sz="800" u="sng">
                  <a:solidFill>
                    <a:srgbClr val="0000FF"/>
                  </a:solidFill>
                  <a:highlight>
                    <a:srgbClr val="FFFFFF"/>
                  </a:highlight>
                  <a:latin typeface="Meiryo UI"/>
                  <a:ea typeface="Meiryo UI"/>
                </a:rPr>
                <a:t>特定域の学習アップを期待し</a:t>
              </a:r>
            </a:p>
            <a:p>
              <a:pPr>
                <a:defRPr/>
              </a:pPr>
              <a:r>
                <a:rPr lang="ja-JP" altLang="en-US" sz="800">
                  <a:solidFill>
                    <a:srgbClr val="0000FF"/>
                  </a:solidFill>
                  <a:highlight>
                    <a:srgbClr val="FFFFFF"/>
                  </a:highlight>
                  <a:latin typeface="Meiryo UI"/>
                  <a:ea typeface="Meiryo UI"/>
                </a:rPr>
                <a:t>　　　 </a:t>
              </a:r>
              <a:r>
                <a:rPr lang="ja-JP" altLang="en-US" sz="800" u="sng">
                  <a:solidFill>
                    <a:srgbClr val="0000FF"/>
                  </a:solidFill>
                  <a:highlight>
                    <a:srgbClr val="FFFFFF"/>
                  </a:highlight>
                  <a:latin typeface="Meiryo UI"/>
                  <a:ea typeface="Meiryo UI"/>
                </a:rPr>
                <a:t>Cmajor Keyに統一（独自）</a:t>
              </a:r>
            </a:p>
          </p:txBody>
        </p:sp>
        <p:sp>
          <p:nvSpPr>
            <p:cNvPr id="18" name="テキスト ボックス 17"/>
            <p:cNvSpPr txBox="1"/>
            <p:nvPr/>
          </p:nvSpPr>
          <p:spPr>
            <a:xfrm>
              <a:off x="3951021" y="894120"/>
              <a:ext cx="2432168" cy="338373"/>
            </a:xfrm>
            <a:prstGeom prst="rect">
              <a:avLst/>
            </a:prstGeom>
            <a:solidFill>
              <a:schemeClr val="lt1"/>
            </a:solidFill>
          </p:spPr>
          <p:txBody>
            <a:bodyPr wrap="square">
              <a:spAutoFit/>
            </a:bodyPr>
            <a:lstStyle/>
            <a:p>
              <a:pPr>
                <a:defRPr/>
              </a:pPr>
              <a:r>
                <a:rPr lang="ja-JP" altLang="en-US" sz="800" u="sng">
                  <a:latin typeface="Meiryo UI"/>
                  <a:ea typeface="Meiryo UI"/>
                </a:rPr>
                <a:t>⑤時系列シーケンス長にする際、</a:t>
              </a:r>
            </a:p>
            <a:p>
              <a:pPr>
                <a:defRPr/>
              </a:pPr>
              <a:r>
                <a:rPr lang="ja-JP" altLang="en-US" sz="800">
                  <a:latin typeface="Meiryo UI"/>
                  <a:ea typeface="Meiryo UI"/>
                </a:rPr>
                <a:t>　 </a:t>
              </a:r>
              <a:r>
                <a:rPr lang="ja-JP" altLang="en-US" sz="800" u="sng">
                  <a:solidFill>
                    <a:srgbClr val="0000FF"/>
                  </a:solidFill>
                  <a:latin typeface="Meiryo UI"/>
                  <a:ea typeface="Meiryo UI"/>
                </a:rPr>
                <a:t>曲</a:t>
              </a:r>
              <a:r>
                <a:rPr lang="ja-JP" altLang="en-US" sz="800" u="sng">
                  <a:solidFill>
                    <a:srgbClr val="0000FF"/>
                  </a:solidFill>
                  <a:latin typeface="Meiryo UI"/>
                </a:rPr>
                <a:t>A</a:t>
              </a:r>
              <a:r>
                <a:rPr lang="ja-JP" altLang="en-US" sz="800" u="sng">
                  <a:solidFill>
                    <a:srgbClr val="0000FF"/>
                  </a:solidFill>
                  <a:latin typeface="Meiryo UI"/>
                  <a:ea typeface="Meiryo UI"/>
                </a:rPr>
                <a:t>の終わりと曲</a:t>
              </a:r>
              <a:r>
                <a:rPr lang="ja-JP" altLang="en-US" sz="800" u="sng">
                  <a:solidFill>
                    <a:srgbClr val="0000FF"/>
                  </a:solidFill>
                  <a:latin typeface="Meiryo UI"/>
                </a:rPr>
                <a:t>B</a:t>
              </a:r>
              <a:r>
                <a:rPr lang="ja-JP" altLang="en-US" sz="800" u="sng">
                  <a:solidFill>
                    <a:srgbClr val="0000FF"/>
                  </a:solidFill>
                  <a:latin typeface="Meiryo UI"/>
                  <a:ea typeface="Meiryo UI"/>
                </a:rPr>
                <a:t>の初めとの混在を抑制（独自）</a:t>
              </a:r>
            </a:p>
          </p:txBody>
        </p:sp>
        <p:pic>
          <p:nvPicPr>
            <p:cNvPr id="21" name="図 20"/>
            <p:cNvPicPr>
              <a:picLocks noChangeAspect="1"/>
            </p:cNvPicPr>
            <p:nvPr/>
          </p:nvPicPr>
          <p:blipFill rotWithShape="1">
            <a:blip r:embed="rId7"/>
            <a:stretch>
              <a:fillRect/>
            </a:stretch>
          </p:blipFill>
          <p:spPr>
            <a:xfrm>
              <a:off x="169966" y="1780137"/>
              <a:ext cx="404100" cy="307963"/>
            </a:xfrm>
            <a:prstGeom prst="rect">
              <a:avLst/>
            </a:prstGeom>
          </p:spPr>
        </p:pic>
        <p:pic>
          <p:nvPicPr>
            <p:cNvPr id="23" name="図 22"/>
            <p:cNvPicPr>
              <a:picLocks noChangeAspect="1"/>
            </p:cNvPicPr>
            <p:nvPr/>
          </p:nvPicPr>
          <p:blipFill rotWithShape="1">
            <a:blip r:embed="rId7"/>
            <a:stretch>
              <a:fillRect/>
            </a:stretch>
          </p:blipFill>
          <p:spPr>
            <a:xfrm>
              <a:off x="918786" y="1063042"/>
              <a:ext cx="404100" cy="307963"/>
            </a:xfrm>
            <a:prstGeom prst="rect">
              <a:avLst/>
            </a:prstGeom>
          </p:spPr>
        </p:pic>
        <p:pic>
          <p:nvPicPr>
            <p:cNvPr id="24" name="図 23"/>
            <p:cNvPicPr>
              <a:picLocks noChangeAspect="1"/>
            </p:cNvPicPr>
            <p:nvPr/>
          </p:nvPicPr>
          <p:blipFill rotWithShape="1">
            <a:blip r:embed="rId7"/>
            <a:stretch>
              <a:fillRect/>
            </a:stretch>
          </p:blipFill>
          <p:spPr>
            <a:xfrm>
              <a:off x="918786" y="1779443"/>
              <a:ext cx="404100" cy="307963"/>
            </a:xfrm>
            <a:prstGeom prst="rect">
              <a:avLst/>
            </a:prstGeom>
          </p:spPr>
        </p:pic>
        <p:pic>
          <p:nvPicPr>
            <p:cNvPr id="25" name="図 24"/>
            <p:cNvPicPr>
              <a:picLocks noChangeAspect="1"/>
            </p:cNvPicPr>
            <p:nvPr/>
          </p:nvPicPr>
          <p:blipFill rotWithShape="1">
            <a:blip r:embed="rId7"/>
            <a:stretch>
              <a:fillRect/>
            </a:stretch>
          </p:blipFill>
          <p:spPr>
            <a:xfrm>
              <a:off x="900815" y="2515204"/>
              <a:ext cx="404100" cy="307963"/>
            </a:xfrm>
            <a:prstGeom prst="rect">
              <a:avLst/>
            </a:prstGeom>
          </p:spPr>
        </p:pic>
        <p:sp>
          <p:nvSpPr>
            <p:cNvPr id="26" name="テキスト ボックス 25"/>
            <p:cNvSpPr txBox="1"/>
            <p:nvPr/>
          </p:nvSpPr>
          <p:spPr>
            <a:xfrm>
              <a:off x="168335" y="1572766"/>
              <a:ext cx="473255" cy="213278"/>
            </a:xfrm>
            <a:prstGeom prst="rect">
              <a:avLst/>
            </a:prstGeom>
            <a:solidFill>
              <a:srgbClr val="FFFFFF"/>
            </a:solidFill>
            <a:ln>
              <a:solidFill>
                <a:schemeClr val="lt1"/>
              </a:solidFill>
            </a:ln>
          </p:spPr>
          <p:txBody>
            <a:bodyPr wrap="square">
              <a:spAutoFit/>
            </a:bodyPr>
            <a:lstStyle/>
            <a:p>
              <a:pPr>
                <a:defRPr/>
              </a:pPr>
              <a:r>
                <a:rPr lang="ja-JP" altLang="en-US" sz="800">
                  <a:highlight>
                    <a:srgbClr val="FFFFFF"/>
                  </a:highlight>
                  <a:latin typeface="Meiryo UI"/>
                </a:rPr>
                <a:t>midi</a:t>
              </a:r>
            </a:p>
          </p:txBody>
        </p:sp>
        <p:sp>
          <p:nvSpPr>
            <p:cNvPr id="27" name="テキスト ボックス 26"/>
            <p:cNvSpPr txBox="1"/>
            <p:nvPr/>
          </p:nvSpPr>
          <p:spPr>
            <a:xfrm>
              <a:off x="905174" y="823945"/>
              <a:ext cx="473255" cy="211780"/>
            </a:xfrm>
            <a:prstGeom prst="rect">
              <a:avLst/>
            </a:prstGeom>
            <a:solidFill>
              <a:srgbClr val="FFFFFF"/>
            </a:solidFill>
            <a:ln>
              <a:solidFill>
                <a:schemeClr val="lt1"/>
              </a:solidFill>
            </a:ln>
          </p:spPr>
          <p:txBody>
            <a:bodyPr wrap="square">
              <a:spAutoFit/>
            </a:bodyPr>
            <a:lstStyle/>
            <a:p>
              <a:pPr>
                <a:defRPr/>
              </a:pPr>
              <a:r>
                <a:rPr lang="ja-JP" altLang="en-US" sz="800">
                  <a:highlight>
                    <a:srgbClr val="FFFFFF"/>
                  </a:highlight>
                  <a:latin typeface="Meiryo UI"/>
                </a:rPr>
                <a:t>train</a:t>
              </a:r>
            </a:p>
          </p:txBody>
        </p:sp>
        <p:sp>
          <p:nvSpPr>
            <p:cNvPr id="28" name="テキスト ボックス 27"/>
            <p:cNvSpPr txBox="1"/>
            <p:nvPr/>
          </p:nvSpPr>
          <p:spPr>
            <a:xfrm>
              <a:off x="893192" y="1550480"/>
              <a:ext cx="473255" cy="211780"/>
            </a:xfrm>
            <a:prstGeom prst="rect">
              <a:avLst/>
            </a:prstGeom>
            <a:solidFill>
              <a:srgbClr val="FFFFFF"/>
            </a:solidFill>
            <a:ln>
              <a:solidFill>
                <a:schemeClr val="lt1"/>
              </a:solidFill>
            </a:ln>
          </p:spPr>
          <p:txBody>
            <a:bodyPr wrap="square">
              <a:spAutoFit/>
            </a:bodyPr>
            <a:lstStyle/>
            <a:p>
              <a:pPr>
                <a:defRPr/>
              </a:pPr>
              <a:r>
                <a:rPr lang="ja-JP" altLang="en-US" sz="800">
                  <a:highlight>
                    <a:srgbClr val="FFFFFF"/>
                  </a:highlight>
                  <a:latin typeface="Meiryo UI"/>
                </a:rPr>
                <a:t>val</a:t>
              </a:r>
            </a:p>
          </p:txBody>
        </p:sp>
        <p:sp>
          <p:nvSpPr>
            <p:cNvPr id="29" name="テキスト ボックス 28"/>
            <p:cNvSpPr txBox="1"/>
            <p:nvPr/>
          </p:nvSpPr>
          <p:spPr>
            <a:xfrm>
              <a:off x="875220" y="2298522"/>
              <a:ext cx="473255" cy="213579"/>
            </a:xfrm>
            <a:prstGeom prst="rect">
              <a:avLst/>
            </a:prstGeom>
            <a:solidFill>
              <a:srgbClr val="FFFFFF"/>
            </a:solidFill>
            <a:ln>
              <a:solidFill>
                <a:schemeClr val="lt1"/>
              </a:solidFill>
            </a:ln>
          </p:spPr>
          <p:txBody>
            <a:bodyPr wrap="square">
              <a:spAutoFit/>
            </a:bodyPr>
            <a:lstStyle/>
            <a:p>
              <a:pPr>
                <a:defRPr/>
              </a:pPr>
              <a:r>
                <a:rPr lang="ja-JP" altLang="en-US" sz="800">
                  <a:highlight>
                    <a:srgbClr val="FFFFFF"/>
                  </a:highlight>
                  <a:latin typeface="Meiryo UI"/>
                </a:rPr>
                <a:t>test</a:t>
              </a:r>
            </a:p>
          </p:txBody>
        </p:sp>
        <p:sp>
          <p:nvSpPr>
            <p:cNvPr id="30" name="テキスト ボックス 29"/>
            <p:cNvSpPr txBox="1"/>
            <p:nvPr/>
          </p:nvSpPr>
          <p:spPr>
            <a:xfrm>
              <a:off x="96086" y="499733"/>
              <a:ext cx="1138208" cy="210572"/>
            </a:xfrm>
            <a:prstGeom prst="rect">
              <a:avLst/>
            </a:prstGeom>
            <a:solidFill>
              <a:schemeClr val="lt1"/>
            </a:solidFill>
            <a:ln>
              <a:solidFill>
                <a:schemeClr val="lt1"/>
              </a:solidFill>
            </a:ln>
          </p:spPr>
          <p:txBody>
            <a:bodyPr wrap="square">
              <a:spAutoFit/>
            </a:bodyPr>
            <a:lstStyle/>
            <a:p>
              <a:pPr>
                <a:defRPr/>
              </a:pPr>
              <a:r>
                <a:rPr lang="ja-JP" altLang="en-US" sz="800" u="sng">
                  <a:highlight>
                    <a:srgbClr val="FFFFFF"/>
                  </a:highlight>
                  <a:latin typeface="Meiryo UI"/>
                </a:rPr>
                <a:t>①事前にデータ分割</a:t>
              </a:r>
            </a:p>
          </p:txBody>
        </p:sp>
        <p:cxnSp>
          <p:nvCxnSpPr>
            <p:cNvPr id="31" name="直線コネクタ 30"/>
            <p:cNvCxnSpPr>
              <a:stCxn id="21" idx="3"/>
              <a:endCxn id="25" idx="1"/>
            </p:cNvCxnSpPr>
            <p:nvPr/>
          </p:nvCxnSpPr>
          <p:spPr>
            <a:xfrm rot="16200000" flipH="1">
              <a:off x="369907" y="2138278"/>
              <a:ext cx="735067" cy="326748"/>
            </a:xfrm>
            <a:prstGeom prst="line">
              <a:avLst/>
            </a:prstGeom>
            <a:ln>
              <a:solidFill>
                <a:schemeClr val="dk2"/>
              </a:solidFill>
              <a:headEnd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p:cNvCxnSpPr>
              <a:stCxn id="21" idx="3"/>
              <a:endCxn id="24" idx="1"/>
            </p:cNvCxnSpPr>
            <p:nvPr/>
          </p:nvCxnSpPr>
          <p:spPr>
            <a:xfrm flipV="1">
              <a:off x="574066" y="1933424"/>
              <a:ext cx="344720" cy="694"/>
            </a:xfrm>
            <a:prstGeom prst="line">
              <a:avLst/>
            </a:prstGeom>
            <a:noFill/>
            <a:ln w="9525" cap="flat" cmpd="sng" algn="ctr">
              <a:solidFill>
                <a:srgbClr val="1A1A1A">
                  <a:alpha val="100000"/>
                </a:srgbClr>
              </a:solidFill>
              <a:prstDash val="solid"/>
              <a:headEnd w="med" len="med"/>
              <a:tailEnd type="arrow" w="med" len="med"/>
            </a:ln>
          </p:spPr>
        </p:cxnSp>
        <p:cxnSp>
          <p:nvCxnSpPr>
            <p:cNvPr id="33" name="直線コネクタ 32"/>
            <p:cNvCxnSpPr>
              <a:stCxn id="21" idx="3"/>
              <a:endCxn id="23" idx="1"/>
            </p:cNvCxnSpPr>
            <p:nvPr/>
          </p:nvCxnSpPr>
          <p:spPr>
            <a:xfrm rot="5400000" flipH="1" flipV="1">
              <a:off x="387879" y="1403210"/>
              <a:ext cx="717095" cy="344721"/>
            </a:xfrm>
            <a:prstGeom prst="line">
              <a:avLst/>
            </a:prstGeom>
            <a:noFill/>
            <a:ln w="9525" cap="flat" cmpd="sng" algn="ctr">
              <a:solidFill>
                <a:srgbClr val="1A1A1A">
                  <a:alpha val="100000"/>
                </a:srgbClr>
              </a:solidFill>
              <a:prstDash val="solid"/>
              <a:headEnd w="med" len="med"/>
              <a:tailEnd type="arrow" w="med" len="med"/>
            </a:ln>
          </p:spPr>
        </p:cxnSp>
        <p:pic>
          <p:nvPicPr>
            <p:cNvPr id="34" name="図 33"/>
            <p:cNvPicPr>
              <a:picLocks noChangeAspect="1"/>
            </p:cNvPicPr>
            <p:nvPr/>
          </p:nvPicPr>
          <p:blipFill rotWithShape="1">
            <a:blip r:embed="rId8"/>
            <a:stretch>
              <a:fillRect/>
            </a:stretch>
          </p:blipFill>
          <p:spPr>
            <a:xfrm>
              <a:off x="4184892" y="1239647"/>
              <a:ext cx="1885460" cy="921780"/>
            </a:xfrm>
            <a:prstGeom prst="rect">
              <a:avLst/>
            </a:prstGeom>
          </p:spPr>
        </p:pic>
        <p:sp>
          <p:nvSpPr>
            <p:cNvPr id="35" name="テキスト ボックス 34"/>
            <p:cNvSpPr txBox="1"/>
            <p:nvPr/>
          </p:nvSpPr>
          <p:spPr>
            <a:xfrm>
              <a:off x="1914228" y="915828"/>
              <a:ext cx="1881035" cy="207227"/>
            </a:xfrm>
            <a:prstGeom prst="rect">
              <a:avLst/>
            </a:prstGeom>
            <a:solidFill>
              <a:schemeClr val="lt1">
                <a:alpha val="100000"/>
              </a:schemeClr>
            </a:solidFill>
          </p:spPr>
          <p:txBody>
            <a:bodyPr wrap="square">
              <a:spAutoFit/>
            </a:bodyPr>
            <a:lstStyle/>
            <a:p>
              <a:pPr marL="0" marR="0" lvl="0" indent="0" algn="l" rtl="0" eaLnBrk="1" latinLnBrk="0" hangingPunct="1">
                <a:lnSpc>
                  <a:spcPct val="100000"/>
                </a:lnSpc>
                <a:spcBef>
                  <a:spcPts val="0"/>
                </a:spcBef>
                <a:spcAft>
                  <a:spcPts val="0"/>
                </a:spcAft>
                <a:buClr>
                  <a:srgbClr val="000000"/>
                </a:buClr>
                <a:buFont typeface="Arial"/>
                <a:buNone/>
                <a:defRPr/>
              </a:pPr>
              <a:r>
                <a:rPr kumimoji="0" lang="ja-JP" altLang="en-US" sz="800" b="0" i="0" u="sng" strike="noStrike" kern="0" cap="none" spc="0" normalizeH="0" baseline="0">
                  <a:solidFill>
                    <a:srgbClr val="000000"/>
                  </a:solidFill>
                  <a:highlight>
                    <a:srgbClr val="FFFFFF"/>
                  </a:highlight>
                  <a:latin typeface="Meiryo UI"/>
                  <a:ea typeface="Meiryo UI"/>
                </a:rPr>
                <a:t>②各曲の音符数をdictで保持（独自）</a:t>
              </a:r>
            </a:p>
          </p:txBody>
        </p:sp>
        <p:sp>
          <p:nvSpPr>
            <p:cNvPr id="36" name="テキスト ボックス 35"/>
            <p:cNvSpPr txBox="1"/>
            <p:nvPr/>
          </p:nvSpPr>
          <p:spPr>
            <a:xfrm>
              <a:off x="187861" y="714194"/>
              <a:ext cx="1486140" cy="183304"/>
            </a:xfrm>
            <a:prstGeom prst="rect">
              <a:avLst/>
            </a:prstGeom>
            <a:solidFill>
              <a:schemeClr val="lt1">
                <a:alpha val="100000"/>
              </a:schemeClr>
            </a:solidFill>
            <a:ln>
              <a:solidFill>
                <a:srgbClr val="FFFFFF">
                  <a:alpha val="100000"/>
                </a:srgbClr>
              </a:solidFill>
            </a:ln>
          </p:spPr>
          <p:txBody>
            <a:bodyPr wrap="square">
              <a:spAutoFit/>
            </a:bodyPr>
            <a:lstStyle/>
            <a:p>
              <a:pPr marL="0" marR="0" lvl="0" indent="0" algn="l" rtl="0" eaLnBrk="1" latinLnBrk="0" hangingPunct="1">
                <a:lnSpc>
                  <a:spcPct val="100000"/>
                </a:lnSpc>
                <a:spcBef>
                  <a:spcPts val="0"/>
                </a:spcBef>
                <a:spcAft>
                  <a:spcPts val="0"/>
                </a:spcAft>
                <a:buClr>
                  <a:srgbClr val="000000"/>
                </a:buClr>
                <a:buFont typeface="Arial"/>
                <a:buNone/>
                <a:defRPr/>
              </a:pPr>
              <a:r>
                <a:rPr kumimoji="0" lang="ja-JP" altLang="en-US" sz="600" b="0" i="0" u="none" strike="noStrike" kern="0" cap="none" spc="0" normalizeH="0" baseline="0">
                  <a:solidFill>
                    <a:srgbClr val="000000"/>
                  </a:solidFill>
                  <a:highlight>
                    <a:srgbClr val="FFFFFF"/>
                  </a:highlight>
                  <a:latin typeface="Meiryo UI"/>
                </a:rPr>
                <a:t>※後でtrainのみで正規化しやすい</a:t>
              </a:r>
            </a:p>
          </p:txBody>
        </p:sp>
        <p:pic>
          <p:nvPicPr>
            <p:cNvPr id="38" name="図 37"/>
            <p:cNvPicPr>
              <a:picLocks noChangeAspect="1"/>
            </p:cNvPicPr>
            <p:nvPr/>
          </p:nvPicPr>
          <p:blipFill rotWithShape="1">
            <a:blip r:embed="rId9"/>
            <a:stretch>
              <a:fillRect/>
            </a:stretch>
          </p:blipFill>
          <p:spPr>
            <a:xfrm>
              <a:off x="1113827" y="1150093"/>
              <a:ext cx="289585" cy="358171"/>
            </a:xfrm>
            <a:prstGeom prst="rect">
              <a:avLst/>
            </a:prstGeom>
          </p:spPr>
        </p:pic>
        <p:pic>
          <p:nvPicPr>
            <p:cNvPr id="39" name="図 38"/>
            <p:cNvPicPr>
              <a:picLocks noChangeAspect="1"/>
            </p:cNvPicPr>
            <p:nvPr/>
          </p:nvPicPr>
          <p:blipFill rotWithShape="1">
            <a:blip r:embed="rId9"/>
            <a:stretch>
              <a:fillRect/>
            </a:stretch>
          </p:blipFill>
          <p:spPr>
            <a:xfrm>
              <a:off x="1107837" y="1868961"/>
              <a:ext cx="289585" cy="358171"/>
            </a:xfrm>
            <a:prstGeom prst="rect">
              <a:avLst/>
            </a:prstGeom>
          </p:spPr>
        </p:pic>
        <p:pic>
          <p:nvPicPr>
            <p:cNvPr id="40" name="図 39"/>
            <p:cNvPicPr>
              <a:picLocks noChangeAspect="1"/>
            </p:cNvPicPr>
            <p:nvPr/>
          </p:nvPicPr>
          <p:blipFill rotWithShape="1">
            <a:blip r:embed="rId9"/>
            <a:stretch>
              <a:fillRect/>
            </a:stretch>
          </p:blipFill>
          <p:spPr>
            <a:xfrm>
              <a:off x="1101846" y="2604423"/>
              <a:ext cx="289585" cy="358171"/>
            </a:xfrm>
            <a:prstGeom prst="rect">
              <a:avLst/>
            </a:prstGeom>
          </p:spPr>
        </p:pic>
        <p:pic>
          <p:nvPicPr>
            <p:cNvPr id="41" name="図 40"/>
            <p:cNvPicPr>
              <a:picLocks noChangeAspect="1"/>
            </p:cNvPicPr>
            <p:nvPr/>
          </p:nvPicPr>
          <p:blipFill rotWithShape="1">
            <a:blip r:embed="rId9"/>
            <a:stretch>
              <a:fillRect/>
            </a:stretch>
          </p:blipFill>
          <p:spPr>
            <a:xfrm>
              <a:off x="331698" y="1858238"/>
              <a:ext cx="289585" cy="358171"/>
            </a:xfrm>
            <a:prstGeom prst="rect">
              <a:avLst/>
            </a:prstGeom>
          </p:spPr>
        </p:pic>
        <p:cxnSp>
          <p:nvCxnSpPr>
            <p:cNvPr id="42" name="直線コネクタ 41"/>
            <p:cNvCxnSpPr>
              <a:stCxn id="38" idx="3"/>
              <a:endCxn id="35" idx="1"/>
            </p:cNvCxnSpPr>
            <p:nvPr/>
          </p:nvCxnSpPr>
          <p:spPr>
            <a:xfrm flipV="1">
              <a:off x="1403412" y="1019441"/>
              <a:ext cx="510815" cy="309737"/>
            </a:xfrm>
            <a:prstGeom prst="line">
              <a:avLst/>
            </a:prstGeom>
            <a:noFill/>
            <a:ln w="9525" cap="flat" cmpd="sng" algn="ctr">
              <a:solidFill>
                <a:srgbClr val="1A1A1A">
                  <a:alpha val="100000"/>
                </a:srgbClr>
              </a:solidFill>
              <a:prstDash val="solid"/>
              <a:headEnd w="med" len="med"/>
              <a:tailEnd type="arrow" w="med" len="med"/>
            </a:ln>
          </p:spPr>
        </p:cxnSp>
        <p:cxnSp>
          <p:nvCxnSpPr>
            <p:cNvPr id="43" name="直線コネクタ 42"/>
            <p:cNvCxnSpPr>
              <a:stCxn id="38" idx="3"/>
              <a:endCxn id="15" idx="1"/>
            </p:cNvCxnSpPr>
            <p:nvPr/>
          </p:nvCxnSpPr>
          <p:spPr>
            <a:xfrm>
              <a:off x="1403412" y="1329179"/>
              <a:ext cx="519560" cy="312625"/>
            </a:xfrm>
            <a:prstGeom prst="line">
              <a:avLst/>
            </a:prstGeom>
            <a:noFill/>
            <a:ln w="9525" cap="flat" cmpd="sng" algn="ctr">
              <a:solidFill>
                <a:srgbClr val="1A1A1A">
                  <a:alpha val="100000"/>
                </a:srgbClr>
              </a:solidFill>
              <a:prstDash val="solid"/>
              <a:headEnd w="med" len="med"/>
              <a:tailEnd type="arrow" w="med" len="med"/>
            </a:ln>
          </p:spPr>
        </p:cxnSp>
        <p:cxnSp>
          <p:nvCxnSpPr>
            <p:cNvPr id="44" name="直線コネクタ 43"/>
            <p:cNvCxnSpPr>
              <a:endCxn id="18" idx="1"/>
            </p:cNvCxnSpPr>
            <p:nvPr/>
          </p:nvCxnSpPr>
          <p:spPr>
            <a:xfrm>
              <a:off x="3720743" y="1056608"/>
              <a:ext cx="230278" cy="6698"/>
            </a:xfrm>
            <a:prstGeom prst="line">
              <a:avLst/>
            </a:prstGeom>
            <a:noFill/>
            <a:ln w="9525" cap="flat" cmpd="sng" algn="ctr">
              <a:solidFill>
                <a:srgbClr val="1A1A1A">
                  <a:alpha val="100000"/>
                </a:srgbClr>
              </a:solidFill>
              <a:prstDash val="solid"/>
              <a:headEnd w="med" len="med"/>
              <a:tailEnd type="arrow" w="med" len="med"/>
            </a:ln>
          </p:spPr>
        </p:cxnSp>
        <p:cxnSp>
          <p:nvCxnSpPr>
            <p:cNvPr id="45" name="直線コネクタ 44"/>
            <p:cNvCxnSpPr>
              <a:stCxn id="15" idx="3"/>
              <a:endCxn id="18" idx="1"/>
            </p:cNvCxnSpPr>
            <p:nvPr/>
          </p:nvCxnSpPr>
          <p:spPr>
            <a:xfrm rot="5400000" flipH="1" flipV="1">
              <a:off x="3571912" y="1262696"/>
              <a:ext cx="578498" cy="179718"/>
            </a:xfrm>
            <a:prstGeom prst="line">
              <a:avLst/>
            </a:prstGeom>
            <a:noFill/>
            <a:ln w="9525" cap="flat" cmpd="sng" algn="ctr">
              <a:solidFill>
                <a:srgbClr val="1A1A1A">
                  <a:alpha val="100000"/>
                </a:srgbClr>
              </a:solidFill>
              <a:prstDash val="solid"/>
              <a:headEnd w="med" len="med"/>
              <a:tailEnd type="arrow" w="med" len="med"/>
            </a:ln>
          </p:spPr>
        </p:cxnSp>
        <p:sp>
          <p:nvSpPr>
            <p:cNvPr id="46" name="テキスト ボックス 45"/>
            <p:cNvSpPr txBox="1"/>
            <p:nvPr/>
          </p:nvSpPr>
          <p:spPr>
            <a:xfrm>
              <a:off x="6291954" y="873692"/>
              <a:ext cx="2557970" cy="211262"/>
            </a:xfrm>
            <a:prstGeom prst="rect">
              <a:avLst/>
            </a:prstGeom>
            <a:solidFill>
              <a:schemeClr val="lt1"/>
            </a:solidFill>
          </p:spPr>
          <p:txBody>
            <a:bodyPr wrap="square">
              <a:spAutoFit/>
            </a:bodyPr>
            <a:lstStyle/>
            <a:p>
              <a:pPr>
                <a:defRPr/>
              </a:pPr>
              <a:r>
                <a:rPr lang="ja-JP" altLang="en-US" sz="800" u="sng">
                  <a:latin typeface="Meiryo UI"/>
                  <a:ea typeface="Meiryo UI"/>
                </a:rPr>
                <a:t>⑥float32</a:t>
              </a:r>
              <a:r>
                <a:rPr lang="en-US" altLang="ja-JP" sz="800" u="sng">
                  <a:latin typeface="Meiryo UI"/>
                  <a:ea typeface="Meiryo UI"/>
                </a:rPr>
                <a:t>&amp;</a:t>
              </a:r>
              <a:r>
                <a:rPr lang="ja-JP" altLang="en-US" sz="800" u="sng">
                  <a:latin typeface="Meiryo UI"/>
                  <a:ea typeface="Meiryo UI"/>
                </a:rPr>
                <a:t>Tensor化＆正規化しながらDataset作成</a:t>
              </a:r>
              <a:endParaRPr lang="ja-JP" altLang="en-US" sz="800" u="sng">
                <a:solidFill>
                  <a:srgbClr val="0000FF"/>
                </a:solidFill>
                <a:latin typeface="Meiryo UI"/>
                <a:ea typeface="Meiryo UI"/>
              </a:endParaRPr>
            </a:p>
          </p:txBody>
        </p:sp>
        <p:cxnSp>
          <p:nvCxnSpPr>
            <p:cNvPr id="47" name="直線コネクタ 46"/>
            <p:cNvCxnSpPr/>
            <p:nvPr/>
          </p:nvCxnSpPr>
          <p:spPr>
            <a:xfrm>
              <a:off x="6109601" y="970284"/>
              <a:ext cx="230278" cy="6698"/>
            </a:xfrm>
            <a:prstGeom prst="line">
              <a:avLst/>
            </a:prstGeom>
            <a:noFill/>
            <a:ln w="9525" cap="flat" cmpd="sng" algn="ctr">
              <a:solidFill>
                <a:srgbClr val="1A1A1A">
                  <a:alpha val="100000"/>
                </a:srgbClr>
              </a:solidFill>
              <a:prstDash val="solid"/>
              <a:headEnd w="med" len="med"/>
              <a:tailEnd type="arrow" w="med" len="med"/>
            </a:ln>
          </p:spPr>
        </p:cxnSp>
        <p:cxnSp>
          <p:nvCxnSpPr>
            <p:cNvPr id="55" name="直線コネクタ 54"/>
            <p:cNvCxnSpPr/>
            <p:nvPr/>
          </p:nvCxnSpPr>
          <p:spPr>
            <a:xfrm rot="16200000" flipH="1">
              <a:off x="4759325" y="2070100"/>
              <a:ext cx="635000" cy="6349"/>
            </a:xfrm>
            <a:prstGeom prst="line">
              <a:avLst/>
            </a:prstGeom>
            <a:ln>
              <a:solidFill>
                <a:schemeClr val="dk2"/>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a:off x="4254500" y="2289175"/>
              <a:ext cx="825499"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テキスト ボックス 56"/>
            <p:cNvSpPr txBox="1"/>
            <p:nvPr/>
          </p:nvSpPr>
          <p:spPr>
            <a:xfrm>
              <a:off x="4174829" y="2334786"/>
              <a:ext cx="1881035" cy="207227"/>
            </a:xfrm>
            <a:prstGeom prst="rect">
              <a:avLst/>
            </a:prstGeom>
            <a:solidFill>
              <a:srgbClr val="FFFFFF">
                <a:alpha val="100000"/>
              </a:srgbClr>
            </a:solidFill>
          </p:spPr>
          <p:txBody>
            <a:bodyPr wrap="square">
              <a:spAutoFit/>
            </a:bodyPr>
            <a:lstStyle/>
            <a:p>
              <a:pPr marL="0" marR="0" lvl="0" indent="0" algn="l" rtl="0" eaLnBrk="1" latinLnBrk="0" hangingPunct="1">
                <a:lnSpc>
                  <a:spcPct val="100000"/>
                </a:lnSpc>
                <a:spcBef>
                  <a:spcPts val="0"/>
                </a:spcBef>
                <a:spcAft>
                  <a:spcPts val="0"/>
                </a:spcAft>
                <a:buClr>
                  <a:srgbClr val="000000"/>
                </a:buClr>
                <a:buFont typeface="Arial"/>
                <a:buNone/>
                <a:defRPr/>
              </a:pPr>
              <a:r>
                <a:rPr kumimoji="0" lang="ja-JP" altLang="en-US" sz="800" b="0" i="0" u="sng" strike="noStrike" kern="0" cap="none" spc="0" normalizeH="0" baseline="0">
                  <a:solidFill>
                    <a:srgbClr val="000000"/>
                  </a:solidFill>
                  <a:highlight>
                    <a:srgbClr val="FFFFFF"/>
                  </a:highlight>
                  <a:latin typeface="Meiryo UI"/>
                  <a:ea typeface="Meiryo UI"/>
                </a:rPr>
                <a:t>②のdict長でSequence分割を制御</a:t>
              </a:r>
            </a:p>
          </p:txBody>
        </p:sp>
      </p:grpSp>
      <p:pic>
        <p:nvPicPr>
          <p:cNvPr id="62" name="図 61"/>
          <p:cNvPicPr>
            <a:picLocks noChangeAspect="1"/>
          </p:cNvPicPr>
          <p:nvPr/>
        </p:nvPicPr>
        <p:blipFill rotWithShape="1">
          <a:blip r:embed="rId10"/>
          <a:srcRect r="30480" b="-27780"/>
          <a:stretch>
            <a:fillRect/>
          </a:stretch>
        </p:blipFill>
        <p:spPr>
          <a:xfrm>
            <a:off x="1845614" y="1117595"/>
            <a:ext cx="1907354" cy="146059"/>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図 22"/>
          <p:cNvPicPr>
            <a:picLocks noChangeAspect="1"/>
          </p:cNvPicPr>
          <p:nvPr/>
        </p:nvPicPr>
        <p:blipFill rotWithShape="1">
          <a:blip r:embed="rId3"/>
          <a:stretch>
            <a:fillRect/>
          </a:stretch>
        </p:blipFill>
        <p:spPr>
          <a:xfrm>
            <a:off x="5239618" y="1131887"/>
            <a:ext cx="3677633" cy="3333750"/>
          </a:xfrm>
          <a:prstGeom prst="rect">
            <a:avLst/>
          </a:prstGeom>
        </p:spPr>
      </p:pic>
      <p:pic>
        <p:nvPicPr>
          <p:cNvPr id="9" name="図 8"/>
          <p:cNvPicPr>
            <a:picLocks noChangeAspect="1"/>
          </p:cNvPicPr>
          <p:nvPr/>
        </p:nvPicPr>
        <p:blipFill rotWithShape="1">
          <a:blip r:embed="rId4"/>
          <a:stretch>
            <a:fillRect/>
          </a:stretch>
        </p:blipFill>
        <p:spPr>
          <a:xfrm>
            <a:off x="522481" y="2900359"/>
            <a:ext cx="3927355" cy="2136710"/>
          </a:xfrm>
          <a:prstGeom prst="rect">
            <a:avLst/>
          </a:prstGeom>
        </p:spPr>
      </p:pic>
      <p:sp>
        <p:nvSpPr>
          <p:cNvPr id="3" name="Google Shape;199;p18"/>
          <p:cNvSpPr txBox="1"/>
          <p:nvPr/>
        </p:nvSpPr>
        <p:spPr>
          <a:xfrm>
            <a:off x="5119424" y="585698"/>
            <a:ext cx="1202728" cy="321292"/>
          </a:xfrm>
          <a:prstGeom prst="rect">
            <a:avLst/>
          </a:prstGeom>
          <a:solidFill>
            <a:srgbClr val="0000FF">
              <a:alpha val="100000"/>
            </a:srgbClr>
          </a:solidFill>
          <a:ln>
            <a:solidFill>
              <a:srgbClr val="0000FF">
                <a:alpha val="100000"/>
              </a:srgbClr>
            </a:solidFill>
          </a:ln>
        </p:spPr>
        <p:txBody>
          <a:bodyPr wrap="square" lIns="91424" tIns="45700" rIns="91424" bIns="45700" anchor="t" anchorCtr="0">
            <a:noAutofit/>
          </a:bodyPr>
          <a:lstStyle/>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2000" i="0" u="none" strike="noStrike" kern="0" cap="none" spc="0" normalizeH="0" baseline="0">
                <a:solidFill>
                  <a:schemeClr val="lt1"/>
                </a:solidFill>
                <a:latin typeface="Meiryo UI"/>
                <a:ea typeface="Meiryo UI"/>
              </a:rPr>
              <a:t>ver</a:t>
            </a:r>
            <a:r>
              <a:rPr kumimoji="0" lang="en-US" altLang="ja-JP" sz="2000" i="0" u="none" strike="noStrike" kern="0" cap="none" spc="0" normalizeH="0" baseline="0">
                <a:solidFill>
                  <a:schemeClr val="lt1"/>
                </a:solidFill>
                <a:latin typeface="Meiryo UI"/>
                <a:ea typeface="Meiryo UI"/>
              </a:rPr>
              <a:t>3</a:t>
            </a:r>
            <a:r>
              <a:rPr kumimoji="0" lang="ja-JP" altLang="en-US" sz="2000" i="0" u="none" strike="noStrike" kern="0" cap="none" spc="0" normalizeH="0" baseline="0">
                <a:solidFill>
                  <a:schemeClr val="lt1"/>
                </a:solidFill>
                <a:latin typeface="Meiryo UI"/>
                <a:ea typeface="Meiryo UI"/>
              </a:rPr>
              <a:t>改</a:t>
            </a:r>
          </a:p>
        </p:txBody>
      </p:sp>
      <p:pic>
        <p:nvPicPr>
          <p:cNvPr id="4" name="図 3"/>
          <p:cNvPicPr>
            <a:picLocks noChangeAspect="1"/>
          </p:cNvPicPr>
          <p:nvPr/>
        </p:nvPicPr>
        <p:blipFill rotWithShape="1">
          <a:blip r:embed="rId5"/>
          <a:stretch>
            <a:fillRect/>
          </a:stretch>
        </p:blipFill>
        <p:spPr>
          <a:xfrm>
            <a:off x="295249" y="98232"/>
            <a:ext cx="1297617" cy="478882"/>
          </a:xfrm>
          <a:prstGeom prst="rect">
            <a:avLst/>
          </a:prstGeom>
        </p:spPr>
      </p:pic>
      <p:pic>
        <p:nvPicPr>
          <p:cNvPr id="6" name="図 5"/>
          <p:cNvPicPr>
            <a:picLocks noChangeAspect="1"/>
          </p:cNvPicPr>
          <p:nvPr/>
        </p:nvPicPr>
        <p:blipFill rotWithShape="1">
          <a:blip r:embed="rId6"/>
          <a:stretch>
            <a:fillRect/>
          </a:stretch>
        </p:blipFill>
        <p:spPr>
          <a:xfrm>
            <a:off x="1633322" y="337838"/>
            <a:ext cx="1861113" cy="224230"/>
          </a:xfrm>
          <a:prstGeom prst="rect">
            <a:avLst/>
          </a:prstGeom>
        </p:spPr>
      </p:pic>
      <p:pic>
        <p:nvPicPr>
          <p:cNvPr id="7" name="図 6"/>
          <p:cNvPicPr>
            <a:picLocks noChangeAspect="1"/>
          </p:cNvPicPr>
          <p:nvPr/>
        </p:nvPicPr>
        <p:blipFill rotWithShape="1">
          <a:blip r:embed="rId7"/>
          <a:stretch>
            <a:fillRect/>
          </a:stretch>
        </p:blipFill>
        <p:spPr>
          <a:xfrm>
            <a:off x="343438" y="3255591"/>
            <a:ext cx="1290172" cy="847730"/>
          </a:xfrm>
          <a:prstGeom prst="rect">
            <a:avLst/>
          </a:prstGeom>
        </p:spPr>
      </p:pic>
      <p:sp>
        <p:nvSpPr>
          <p:cNvPr id="8" name="Google Shape;199;p18"/>
          <p:cNvSpPr txBox="1"/>
          <p:nvPr/>
        </p:nvSpPr>
        <p:spPr>
          <a:xfrm>
            <a:off x="455575" y="2854970"/>
            <a:ext cx="1087068" cy="321292"/>
          </a:xfrm>
          <a:prstGeom prst="rect">
            <a:avLst/>
          </a:prstGeom>
          <a:solidFill>
            <a:srgbClr val="FFFFFF">
              <a:alpha val="100000"/>
            </a:srgbClr>
          </a:solidFill>
          <a:ln>
            <a:solidFill>
              <a:srgbClr val="0000FF">
                <a:alpha val="100000"/>
              </a:srgbClr>
            </a:solidFill>
          </a:ln>
        </p:spPr>
        <p:txBody>
          <a:bodyPr wrap="square" lIns="91424" tIns="45700" rIns="91424" bIns="45700" anchor="t" anchorCtr="0">
            <a:noAutofit/>
          </a:bodyPr>
          <a:lstStyle/>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2000" i="0" u="none" strike="noStrike" kern="0" cap="none" spc="0" normalizeH="0" baseline="0">
                <a:solidFill>
                  <a:srgbClr val="000000"/>
                </a:solidFill>
                <a:latin typeface="Meiryo UI"/>
                <a:ea typeface="Meiryo UI"/>
              </a:rPr>
              <a:t>ver</a:t>
            </a:r>
            <a:r>
              <a:rPr kumimoji="0" lang="en-US" altLang="ja-JP" sz="2000" i="0" u="none" strike="noStrike" kern="0" cap="none" spc="0" normalizeH="0" baseline="0">
                <a:solidFill>
                  <a:srgbClr val="000000"/>
                </a:solidFill>
                <a:latin typeface="Meiryo UI"/>
                <a:ea typeface="Meiryo UI"/>
              </a:rPr>
              <a:t>2</a:t>
            </a:r>
          </a:p>
        </p:txBody>
      </p:sp>
      <p:sp>
        <p:nvSpPr>
          <p:cNvPr id="10" name="フローチャート: 処理 9"/>
          <p:cNvSpPr/>
          <p:nvPr/>
        </p:nvSpPr>
        <p:spPr>
          <a:xfrm>
            <a:off x="6370636" y="2930526"/>
            <a:ext cx="1408113" cy="1288923"/>
          </a:xfrm>
          <a:prstGeom prst="flowChartProcess">
            <a:avLst/>
          </a:prstGeom>
          <a:noFill/>
          <a:ln>
            <a:solidFill>
              <a:srgbClr val="0000FF"/>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1" name="テキスト ボックス 10"/>
          <p:cNvSpPr txBox="1"/>
          <p:nvPr/>
        </p:nvSpPr>
        <p:spPr>
          <a:xfrm>
            <a:off x="7797309" y="2873838"/>
            <a:ext cx="1011115" cy="396094"/>
          </a:xfrm>
          <a:prstGeom prst="rect">
            <a:avLst/>
          </a:prstGeom>
        </p:spPr>
        <p:txBody>
          <a:bodyPr wrap="square">
            <a:spAutoFit/>
          </a:bodyPr>
          <a:lstStyle/>
          <a:p>
            <a:pPr>
              <a:defRPr/>
            </a:pPr>
            <a:r>
              <a:rPr lang="ja-JP" altLang="en-US" sz="1000" b="1">
                <a:solidFill>
                  <a:srgbClr val="0000FF"/>
                </a:solidFill>
                <a:latin typeface="Meiryo UI"/>
                <a:ea typeface="Meiryo UI"/>
              </a:rPr>
              <a:t>＋全結合層×</a:t>
            </a:r>
            <a:r>
              <a:rPr lang="en-US" altLang="ja-JP" sz="1000" b="1">
                <a:solidFill>
                  <a:srgbClr val="0000FF"/>
                </a:solidFill>
                <a:latin typeface="Meiryo UI"/>
              </a:rPr>
              <a:t>2</a:t>
            </a:r>
          </a:p>
          <a:p>
            <a:pPr>
              <a:defRPr/>
            </a:pPr>
            <a:r>
              <a:rPr lang="ja-JP" altLang="en-US" sz="1000" b="1">
                <a:solidFill>
                  <a:srgbClr val="0000FF"/>
                </a:solidFill>
                <a:latin typeface="Meiryo UI"/>
                <a:ea typeface="Meiryo UI"/>
              </a:rPr>
              <a:t>特徴濃縮狙い</a:t>
            </a:r>
            <a:endParaRPr lang="ja-JP" altLang="en-US" sz="1000" b="1">
              <a:solidFill>
                <a:srgbClr val="0000FF"/>
              </a:solidFill>
              <a:latin typeface="Meiryo UI"/>
            </a:endParaRPr>
          </a:p>
        </p:txBody>
      </p:sp>
      <p:sp>
        <p:nvSpPr>
          <p:cNvPr id="12" name="フローチャート: 処理 11"/>
          <p:cNvSpPr/>
          <p:nvPr/>
        </p:nvSpPr>
        <p:spPr>
          <a:xfrm>
            <a:off x="1696181" y="3105523"/>
            <a:ext cx="1608418" cy="574548"/>
          </a:xfrm>
          <a:prstGeom prst="flowChartProcess">
            <a:avLst/>
          </a:prstGeom>
          <a:noFill/>
          <a:ln>
            <a:solidFill>
              <a:srgbClr val="0000FF"/>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3" name="テキスト ボックス 12"/>
          <p:cNvSpPr txBox="1"/>
          <p:nvPr/>
        </p:nvSpPr>
        <p:spPr>
          <a:xfrm>
            <a:off x="3364823" y="3098796"/>
            <a:ext cx="1571410" cy="394974"/>
          </a:xfrm>
          <a:prstGeom prst="rect">
            <a:avLst/>
          </a:prstGeom>
        </p:spPr>
        <p:txBody>
          <a:bodyPr wrap="square">
            <a:spAutoFit/>
          </a:bodyPr>
          <a:lstStyle/>
          <a:p>
            <a:pPr>
              <a:defRPr/>
            </a:pPr>
            <a:r>
              <a:rPr lang="ja-JP" altLang="en-US" sz="1000" b="1">
                <a:solidFill>
                  <a:srgbClr val="0000FF"/>
                </a:solidFill>
                <a:latin typeface="Meiryo UI"/>
                <a:ea typeface="Meiryo UI"/>
              </a:rPr>
              <a:t>＋双方性LSTM</a:t>
            </a:r>
          </a:p>
          <a:p>
            <a:pPr>
              <a:defRPr/>
            </a:pPr>
            <a:r>
              <a:rPr lang="ja-JP" altLang="en-US" sz="1000" b="1">
                <a:solidFill>
                  <a:srgbClr val="0000FF"/>
                </a:solidFill>
                <a:latin typeface="Meiryo UI"/>
                <a:ea typeface="Meiryo UI"/>
              </a:rPr>
              <a:t>前後の音繋がり↑狙い</a:t>
            </a:r>
          </a:p>
        </p:txBody>
      </p:sp>
      <p:pic>
        <p:nvPicPr>
          <p:cNvPr id="15" name="図 14"/>
          <p:cNvPicPr>
            <a:picLocks noChangeAspect="1"/>
          </p:cNvPicPr>
          <p:nvPr/>
        </p:nvPicPr>
        <p:blipFill rotWithShape="1">
          <a:blip r:embed="rId8"/>
          <a:stretch>
            <a:fillRect/>
          </a:stretch>
        </p:blipFill>
        <p:spPr>
          <a:xfrm>
            <a:off x="549518" y="799521"/>
            <a:ext cx="4205654" cy="1692436"/>
          </a:xfrm>
          <a:prstGeom prst="rect">
            <a:avLst/>
          </a:prstGeom>
        </p:spPr>
      </p:pic>
      <p:pic>
        <p:nvPicPr>
          <p:cNvPr id="14" name="図 13"/>
          <p:cNvPicPr>
            <a:picLocks noChangeAspect="1"/>
          </p:cNvPicPr>
          <p:nvPr/>
        </p:nvPicPr>
        <p:blipFill rotWithShape="1">
          <a:blip r:embed="rId9"/>
          <a:stretch>
            <a:fillRect/>
          </a:stretch>
        </p:blipFill>
        <p:spPr>
          <a:xfrm>
            <a:off x="430213" y="1033562"/>
            <a:ext cx="1373966" cy="920381"/>
          </a:xfrm>
          <a:prstGeom prst="rect">
            <a:avLst/>
          </a:prstGeom>
        </p:spPr>
      </p:pic>
      <p:sp>
        <p:nvSpPr>
          <p:cNvPr id="16" name="Google Shape;199;p18"/>
          <p:cNvSpPr txBox="1"/>
          <p:nvPr/>
        </p:nvSpPr>
        <p:spPr>
          <a:xfrm>
            <a:off x="479021" y="605605"/>
            <a:ext cx="1087068" cy="321292"/>
          </a:xfrm>
          <a:prstGeom prst="rect">
            <a:avLst/>
          </a:prstGeom>
          <a:solidFill>
            <a:srgbClr val="FFFFFF">
              <a:alpha val="100000"/>
            </a:srgbClr>
          </a:solidFill>
          <a:ln>
            <a:solidFill>
              <a:srgbClr val="0000FF">
                <a:alpha val="100000"/>
              </a:srgbClr>
            </a:solidFill>
          </a:ln>
        </p:spPr>
        <p:txBody>
          <a:bodyPr wrap="square" lIns="91424" tIns="45700" rIns="91424" bIns="45700" anchor="t" anchorCtr="0">
            <a:noAutofit/>
          </a:bodyPr>
          <a:lstStyle/>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2000" i="0" u="none" strike="noStrike" kern="0" cap="none" spc="0" normalizeH="0" baseline="0">
                <a:solidFill>
                  <a:srgbClr val="000000"/>
                </a:solidFill>
                <a:latin typeface="Meiryo UI"/>
                <a:ea typeface="Meiryo UI"/>
              </a:rPr>
              <a:t>ver</a:t>
            </a:r>
            <a:r>
              <a:rPr kumimoji="0" lang="en-US" altLang="ja-JP" sz="2000" i="0" u="none" strike="noStrike" kern="0" cap="none" spc="0" normalizeH="0" baseline="0">
                <a:solidFill>
                  <a:srgbClr val="000000"/>
                </a:solidFill>
                <a:latin typeface="Meiryo UI"/>
                <a:ea typeface="Meiryo UI"/>
              </a:rPr>
              <a:t>1</a:t>
            </a:r>
          </a:p>
        </p:txBody>
      </p:sp>
      <p:sp>
        <p:nvSpPr>
          <p:cNvPr id="17" name="矢印: 下 16"/>
          <p:cNvSpPr/>
          <p:nvPr/>
        </p:nvSpPr>
        <p:spPr>
          <a:xfrm>
            <a:off x="2092836" y="2571750"/>
            <a:ext cx="505557" cy="212480"/>
          </a:xfrm>
          <a:prstGeom prst="downArrow">
            <a:avLst>
              <a:gd name="adj1" fmla="val 50000"/>
              <a:gd name="adj2" fmla="val 50000"/>
            </a:avLst>
          </a:prstGeom>
          <a:solidFill>
            <a:srgbClr val="FFEF99"/>
          </a:solidFill>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19" name="テキスト ボックス 18"/>
          <p:cNvSpPr txBox="1"/>
          <p:nvPr/>
        </p:nvSpPr>
        <p:spPr>
          <a:xfrm>
            <a:off x="3417577" y="1039930"/>
            <a:ext cx="1336948" cy="844115"/>
          </a:xfrm>
          <a:prstGeom prst="rect">
            <a:avLst/>
          </a:prstGeom>
        </p:spPr>
        <p:txBody>
          <a:bodyPr wrap="square">
            <a:spAutoFit/>
          </a:bodyPr>
          <a:lstStyle/>
          <a:p>
            <a:pPr>
              <a:defRPr/>
            </a:pPr>
            <a:r>
              <a:rPr lang="ja-JP" altLang="en-US" sz="1000" b="1">
                <a:solidFill>
                  <a:srgbClr val="0000FF"/>
                </a:solidFill>
                <a:latin typeface="Meiryo UI"/>
                <a:ea typeface="Meiryo UI"/>
              </a:rPr>
              <a:t>まずは基本セットで</a:t>
            </a:r>
          </a:p>
          <a:p>
            <a:pPr>
              <a:defRPr/>
            </a:pPr>
            <a:r>
              <a:rPr lang="ja-JP" altLang="en-US" sz="1000" b="1">
                <a:solidFill>
                  <a:srgbClr val="0000FF"/>
                </a:solidFill>
                <a:latin typeface="Meiryo UI"/>
                <a:ea typeface="Meiryo UI"/>
              </a:rPr>
              <a:t>LSTM</a:t>
            </a:r>
          </a:p>
          <a:p>
            <a:pPr>
              <a:defRPr/>
            </a:pPr>
            <a:r>
              <a:rPr lang="ja-JP" altLang="en-US" sz="1000" b="1">
                <a:solidFill>
                  <a:srgbClr val="0000FF"/>
                </a:solidFill>
                <a:latin typeface="Meiryo UI"/>
                <a:ea typeface="Meiryo UI"/>
              </a:rPr>
              <a:t>⇒Bach</a:t>
            </a:r>
            <a:r>
              <a:rPr lang="en-US" altLang="ja-JP" sz="1000" b="1">
                <a:solidFill>
                  <a:srgbClr val="0000FF"/>
                </a:solidFill>
                <a:latin typeface="Meiryo UI"/>
                <a:ea typeface="Meiryo UI"/>
              </a:rPr>
              <a:t>_</a:t>
            </a:r>
            <a:r>
              <a:rPr lang="ja-JP" altLang="en-US" sz="1000" b="1">
                <a:solidFill>
                  <a:srgbClr val="0000FF"/>
                </a:solidFill>
                <a:latin typeface="Meiryo UI"/>
                <a:ea typeface="Meiryo UI"/>
              </a:rPr>
              <a:t>norm</a:t>
            </a:r>
          </a:p>
          <a:p>
            <a:pPr>
              <a:defRPr/>
            </a:pPr>
            <a:r>
              <a:rPr lang="ja-JP" altLang="en-US" sz="1000" b="1">
                <a:solidFill>
                  <a:srgbClr val="0000FF"/>
                </a:solidFill>
                <a:latin typeface="Meiryo UI"/>
                <a:ea typeface="Meiryo UI"/>
              </a:rPr>
              <a:t>⇒Relu</a:t>
            </a:r>
          </a:p>
          <a:p>
            <a:pPr>
              <a:defRPr/>
            </a:pPr>
            <a:r>
              <a:rPr lang="ja-JP" altLang="en-US" sz="1000" b="1">
                <a:solidFill>
                  <a:srgbClr val="0000FF"/>
                </a:solidFill>
                <a:latin typeface="Meiryo UI"/>
                <a:ea typeface="Meiryo UI"/>
              </a:rPr>
              <a:t>⇒Dropout</a:t>
            </a:r>
          </a:p>
        </p:txBody>
      </p:sp>
      <p:sp>
        <p:nvSpPr>
          <p:cNvPr id="20" name="フローチャート: 処理 19"/>
          <p:cNvSpPr/>
          <p:nvPr/>
        </p:nvSpPr>
        <p:spPr>
          <a:xfrm>
            <a:off x="1917453" y="1046657"/>
            <a:ext cx="1447226" cy="1153375"/>
          </a:xfrm>
          <a:prstGeom prst="flowChartProcess">
            <a:avLst/>
          </a:prstGeom>
          <a:noFill/>
          <a:ln>
            <a:solidFill>
              <a:srgbClr val="0000FF"/>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pic>
        <p:nvPicPr>
          <p:cNvPr id="25" name="図 24"/>
          <p:cNvPicPr>
            <a:picLocks noChangeAspect="1"/>
          </p:cNvPicPr>
          <p:nvPr/>
        </p:nvPicPr>
        <p:blipFill rotWithShape="1">
          <a:blip r:embed="rId10"/>
          <a:stretch>
            <a:fillRect/>
          </a:stretch>
        </p:blipFill>
        <p:spPr>
          <a:xfrm>
            <a:off x="4999721" y="1075770"/>
            <a:ext cx="1409217" cy="953054"/>
          </a:xfrm>
          <a:prstGeom prst="rect">
            <a:avLst/>
          </a:prstGeom>
        </p:spPr>
      </p:pic>
      <p:pic>
        <p:nvPicPr>
          <p:cNvPr id="26" name="図 25"/>
          <p:cNvPicPr>
            <a:picLocks noChangeAspect="1"/>
          </p:cNvPicPr>
          <p:nvPr/>
        </p:nvPicPr>
        <p:blipFill rotWithShape="1">
          <a:blip r:embed="rId11"/>
          <a:stretch>
            <a:fillRect/>
          </a:stretch>
        </p:blipFill>
        <p:spPr>
          <a:xfrm>
            <a:off x="5129754" y="2066925"/>
            <a:ext cx="1160099" cy="350446"/>
          </a:xfrm>
          <a:prstGeom prst="rect">
            <a:avLst/>
          </a:prstGeom>
        </p:spPr>
      </p:pic>
      <p:pic>
        <p:nvPicPr>
          <p:cNvPr id="27" name="図 26"/>
          <p:cNvPicPr>
            <a:picLocks noChangeAspect="1"/>
          </p:cNvPicPr>
          <p:nvPr/>
        </p:nvPicPr>
        <p:blipFill rotWithShape="1">
          <a:blip r:embed="rId12"/>
          <a:stretch>
            <a:fillRect/>
          </a:stretch>
        </p:blipFill>
        <p:spPr>
          <a:xfrm>
            <a:off x="5111586" y="136098"/>
            <a:ext cx="895100" cy="407970"/>
          </a:xfrm>
          <a:prstGeom prst="rect">
            <a:avLst/>
          </a:prstGeom>
        </p:spPr>
      </p:pic>
      <p:pic>
        <p:nvPicPr>
          <p:cNvPr id="28" name="図 27"/>
          <p:cNvPicPr>
            <a:picLocks noChangeAspect="1"/>
          </p:cNvPicPr>
          <p:nvPr/>
        </p:nvPicPr>
        <p:blipFill rotWithShape="1">
          <a:blip r:embed="rId13"/>
          <a:stretch>
            <a:fillRect/>
          </a:stretch>
        </p:blipFill>
        <p:spPr>
          <a:xfrm>
            <a:off x="6037674" y="331458"/>
            <a:ext cx="2285525" cy="210290"/>
          </a:xfrm>
          <a:prstGeom prst="rect">
            <a:avLst/>
          </a:prstGeom>
        </p:spPr>
      </p:pic>
      <p:cxnSp>
        <p:nvCxnSpPr>
          <p:cNvPr id="30" name="直線コネクタ 29"/>
          <p:cNvCxnSpPr/>
          <p:nvPr/>
        </p:nvCxnSpPr>
        <p:spPr>
          <a:xfrm rot="5400000">
            <a:off x="2398572" y="2554428"/>
            <a:ext cx="4805795" cy="8666"/>
          </a:xfrm>
          <a:prstGeom prst="line">
            <a:avLst/>
          </a:prstGeom>
        </p:spPr>
        <p:style>
          <a:lnRef idx="1">
            <a:schemeClr val="accent1"/>
          </a:lnRef>
          <a:fillRef idx="0">
            <a:schemeClr val="accent1"/>
          </a:fillRef>
          <a:effectRef idx="0">
            <a:schemeClr val="accent1"/>
          </a:effectRef>
          <a:fontRef idx="minor">
            <a:schemeClr val="tx1"/>
          </a:fontRef>
        </p:style>
      </p:cxnSp>
      <p:sp>
        <p:nvSpPr>
          <p:cNvPr id="29" name="吹き出し: 角を丸めた四角形 28"/>
          <p:cNvSpPr/>
          <p:nvPr/>
        </p:nvSpPr>
        <p:spPr>
          <a:xfrm>
            <a:off x="3307774" y="3498273"/>
            <a:ext cx="2710293" cy="779317"/>
          </a:xfrm>
          <a:prstGeom prst="wedgeRoundRectCallout">
            <a:avLst>
              <a:gd name="adj1" fmla="val 11679"/>
              <a:gd name="adj2" fmla="val -79838"/>
              <a:gd name="adj3" fmla="val 16667"/>
            </a:avLst>
          </a:prstGeom>
          <a:solidFill>
            <a:srgbClr val="0000FF"/>
          </a:solidFill>
          <a:ln w="6350">
            <a:solidFill>
              <a:schemeClr val="accent1">
                <a:shade val="20000"/>
              </a:schemeClr>
            </a:solidFill>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r>
              <a:rPr lang="ja-JP" altLang="en-US" sz="1100">
                <a:solidFill>
                  <a:schemeClr val="lt1"/>
                </a:solidFill>
                <a:latin typeface="Meiryo UI"/>
                <a:ea typeface="Meiryo UI"/>
              </a:rPr>
              <a:t>ドの連打止まらず</a:t>
            </a:r>
            <a:endParaRPr lang="ja-JP" altLang="en-US" sz="1100">
              <a:solidFill>
                <a:schemeClr val="lt1"/>
              </a:solidFill>
              <a:latin typeface="Meiryo UI"/>
            </a:endParaRPr>
          </a:p>
          <a:p>
            <a:pPr algn="ctr">
              <a:defRPr/>
            </a:pPr>
            <a:r>
              <a:rPr lang="ja-JP" altLang="en-US" sz="1100">
                <a:solidFill>
                  <a:schemeClr val="lt1"/>
                </a:solidFill>
                <a:latin typeface="Meiryo UI"/>
              </a:rPr>
              <a:t>⇒train</a:t>
            </a:r>
            <a:r>
              <a:rPr lang="ja-JP" altLang="en-US" sz="1100">
                <a:solidFill>
                  <a:schemeClr val="lt1"/>
                </a:solidFill>
                <a:latin typeface="Meiryo UI"/>
                <a:ea typeface="Meiryo UI"/>
              </a:rPr>
              <a:t>データ増し※</a:t>
            </a:r>
            <a:r>
              <a:rPr lang="en-US" altLang="ja-JP" sz="1100">
                <a:solidFill>
                  <a:schemeClr val="lt1"/>
                </a:solidFill>
                <a:latin typeface="Meiryo UI"/>
                <a:ea typeface="Meiryo UI"/>
              </a:rPr>
              <a:t>&amp;</a:t>
            </a:r>
            <a:r>
              <a:rPr lang="ja-JP" altLang="en-US" sz="1100">
                <a:solidFill>
                  <a:schemeClr val="lt1"/>
                </a:solidFill>
                <a:latin typeface="Meiryo UI"/>
                <a:ea typeface="Meiryo UI"/>
              </a:rPr>
              <a:t>全結合層追加</a:t>
            </a:r>
          </a:p>
          <a:p>
            <a:pPr algn="ctr">
              <a:defRPr/>
            </a:pPr>
            <a:r>
              <a:rPr lang="ja-JP" altLang="en-US" sz="1100">
                <a:solidFill>
                  <a:schemeClr val="lt1"/>
                </a:solidFill>
                <a:latin typeface="Meiryo UI"/>
                <a:ea typeface="Meiryo UI"/>
              </a:rPr>
              <a:t>※</a:t>
            </a:r>
            <a:r>
              <a:rPr lang="en-US" altLang="ja-JP" sz="1100">
                <a:solidFill>
                  <a:schemeClr val="lt1"/>
                </a:solidFill>
                <a:latin typeface="Meiryo UI"/>
                <a:ea typeface="Meiryo UI"/>
              </a:rPr>
              <a:t>4</a:t>
            </a:r>
            <a:r>
              <a:rPr lang="ja-JP" altLang="en-US" sz="1100">
                <a:solidFill>
                  <a:schemeClr val="lt1"/>
                </a:solidFill>
                <a:latin typeface="Meiryo UI"/>
                <a:ea typeface="Meiryo UI"/>
              </a:rPr>
              <a:t> ⇒</a:t>
            </a:r>
            <a:r>
              <a:rPr lang="en-US" altLang="ja-JP" sz="1100">
                <a:solidFill>
                  <a:schemeClr val="lt1"/>
                </a:solidFill>
                <a:latin typeface="Meiryo UI"/>
                <a:ea typeface="Meiryo UI"/>
              </a:rPr>
              <a:t>546</a:t>
            </a:r>
            <a:r>
              <a:rPr lang="ja-JP" altLang="en-US" sz="1100">
                <a:solidFill>
                  <a:schemeClr val="lt1"/>
                </a:solidFill>
                <a:latin typeface="Meiryo UI"/>
                <a:ea typeface="Meiryo UI"/>
              </a:rPr>
              <a:t>ファイルDataset </a:t>
            </a:r>
            <a:r>
              <a:rPr lang="en-US" altLang="ja-JP" sz="1100">
                <a:solidFill>
                  <a:schemeClr val="lt1"/>
                </a:solidFill>
                <a:latin typeface="Meiryo UI"/>
                <a:ea typeface="Meiryo UI"/>
              </a:rPr>
              <a:t>12194</a:t>
            </a:r>
            <a:r>
              <a:rPr lang="ja-JP" altLang="en-US" sz="1100">
                <a:solidFill>
                  <a:schemeClr val="lt1"/>
                </a:solidFill>
                <a:latin typeface="Meiryo UI"/>
                <a:ea typeface="Meiryo UI"/>
              </a:rPr>
              <a:t>個化</a:t>
            </a:r>
          </a:p>
        </p:txBody>
      </p:sp>
      <p:sp>
        <p:nvSpPr>
          <p:cNvPr id="18" name="矢印: 下 17"/>
          <p:cNvSpPr/>
          <p:nvPr/>
        </p:nvSpPr>
        <p:spPr>
          <a:xfrm rot="16166144">
            <a:off x="4484239" y="2813125"/>
            <a:ext cx="723218" cy="435218"/>
          </a:xfrm>
          <a:prstGeom prst="downArrow">
            <a:avLst>
              <a:gd name="adj1" fmla="val 50000"/>
              <a:gd name="adj2" fmla="val 50000"/>
            </a:avLst>
          </a:prstGeom>
          <a:solidFill>
            <a:srgbClr val="FFEF99">
              <a:alpha val="100000"/>
            </a:srgbClr>
          </a:solidFill>
          <a:ln w="25400" cap="flat" cmpd="sng" algn="ctr">
            <a:solidFill>
              <a:srgbClr val="2B2B2B">
                <a:alpha val="100000"/>
              </a:srgbClr>
            </a:solidFill>
            <a:prstDash val="solid"/>
          </a:ln>
        </p:spPr>
        <p:txBody>
          <a:bodyPr anchor="ctr"/>
          <a:lstStyle/>
          <a:p>
            <a:pPr marL="0" marR="0" lvl="0" indent="0" algn="ctr" rtl="0" eaLnBrk="1" latinLnBrk="0" hangingPunct="1">
              <a:lnSpc>
                <a:spcPct val="100000"/>
              </a:lnSpc>
              <a:spcBef>
                <a:spcPts val="0"/>
              </a:spcBef>
              <a:spcAft>
                <a:spcPts val="0"/>
              </a:spcAft>
              <a:buClr>
                <a:srgbClr val="000000"/>
              </a:buClr>
              <a:buFont typeface="Arial"/>
              <a:buNone/>
              <a:defRPr/>
            </a:pPr>
            <a:endParaRPr kumimoji="0" lang="ja-JP" altLang="en-US" sz="1400" b="0" i="0" u="none" strike="noStrike" kern="0" cap="none" spc="0" normalizeH="0" baseline="0">
              <a:solidFill>
                <a:srgbClr val="FFFFFF"/>
              </a:solidFill>
              <a:latin typeface="Arial"/>
              <a:ea typeface="ＭＳ Ｐゴシック"/>
              <a:cs typeface="ＭＳ Ｐゴシック"/>
            </a:endParaRPr>
          </a:p>
        </p:txBody>
      </p:sp>
      <p:sp>
        <p:nvSpPr>
          <p:cNvPr id="31" name="テキスト ボックス 30"/>
          <p:cNvSpPr txBox="1"/>
          <p:nvPr/>
        </p:nvSpPr>
        <p:spPr>
          <a:xfrm>
            <a:off x="701386" y="1099704"/>
            <a:ext cx="1099705" cy="393815"/>
          </a:xfrm>
          <a:prstGeom prst="rect">
            <a:avLst/>
          </a:prstGeom>
        </p:spPr>
        <p:txBody>
          <a:bodyPr wrap="square">
            <a:spAutoFit/>
          </a:bodyPr>
          <a:lstStyle/>
          <a:p>
            <a:pPr>
              <a:defRPr/>
            </a:pPr>
            <a:r>
              <a:rPr lang="ja-JP" altLang="en-US" sz="1000">
                <a:solidFill>
                  <a:srgbClr val="FF0000"/>
                </a:solidFill>
              </a:rPr>
              <a:t>収束するようにはなった</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99;p18"/>
          <p:cNvSpPr txBox="1"/>
          <p:nvPr/>
        </p:nvSpPr>
        <p:spPr>
          <a:xfrm>
            <a:off x="124876" y="709648"/>
            <a:ext cx="8905071" cy="4267445"/>
          </a:xfrm>
          <a:prstGeom prst="rect">
            <a:avLst/>
          </a:prstGeom>
          <a:noFill/>
          <a:ln>
            <a:noFill/>
          </a:ln>
        </p:spPr>
        <p:txBody>
          <a:bodyPr wrap="square" lIns="91424" tIns="45700" rIns="91424" bIns="45700" anchor="t" anchorCtr="0">
            <a:noAutofit/>
          </a:bodyPr>
          <a:lstStyle/>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sng" strike="noStrike" kern="0" cap="none" spc="0" normalizeH="0" baseline="0">
                <a:solidFill>
                  <a:srgbClr val="1A1A1A"/>
                </a:solidFill>
                <a:latin typeface="Meiryo UI"/>
                <a:ea typeface="Meiryo UI"/>
              </a:rPr>
              <a:t>＜苦労＞</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strike="noStrike" kern="0" cap="none" spc="0" normalizeH="0" baseline="0">
                <a:solidFill>
                  <a:srgbClr val="1A1A1A"/>
                </a:solidFill>
                <a:latin typeface="Meiryo UI"/>
                <a:ea typeface="Meiryo UI"/>
              </a:rPr>
              <a:t>①　</a:t>
            </a:r>
            <a:r>
              <a:rPr kumimoji="0" lang="ja-JP" altLang="en-US" sz="1700" b="0" i="0" strike="noStrike" kern="0" cap="none" spc="0" normalizeH="0" baseline="0">
                <a:solidFill>
                  <a:srgbClr val="1A1A1A"/>
                </a:solidFill>
                <a:latin typeface="Meiryo UI"/>
              </a:rPr>
              <a:t>midi</a:t>
            </a:r>
            <a:r>
              <a:rPr kumimoji="0" lang="ja-JP" altLang="en-US" sz="1700" b="0" i="0" strike="noStrike" kern="0" cap="none" spc="0" normalizeH="0" baseline="0">
                <a:solidFill>
                  <a:srgbClr val="1A1A1A"/>
                </a:solidFill>
                <a:latin typeface="Meiryo UI"/>
                <a:ea typeface="Meiryo UI"/>
              </a:rPr>
              <a:t>を、どうすれば</a:t>
            </a:r>
            <a:r>
              <a:rPr kumimoji="0" lang="ja-JP" altLang="en-US" sz="1700" b="0" i="0" u="none" strike="noStrike" kern="0" cap="none" spc="0" normalizeH="0" baseline="0">
                <a:solidFill>
                  <a:srgbClr val="1A1A1A"/>
                </a:solidFill>
                <a:latin typeface="Meiryo UI"/>
                <a:ea typeface="Meiryo UI"/>
              </a:rPr>
              <a:t>情報取り出せるかわからなかった。</a:t>
            </a:r>
            <a:r>
              <a:rPr kumimoji="0" lang="ja-JP" altLang="en-US" sz="1700" b="0" i="0" u="none" strike="noStrike" kern="0" cap="none" spc="0" normalizeH="0" baseline="0">
                <a:solidFill>
                  <a:srgbClr val="1A1A1A"/>
                </a:solidFill>
                <a:latin typeface="Meiryo UI"/>
              </a:rPr>
              <a:t>midi</a:t>
            </a:r>
            <a:r>
              <a:rPr kumimoji="0" lang="ja-JP" altLang="en-US" sz="1700" b="0" i="0" u="none" strike="noStrike" kern="0" cap="none" spc="0" normalizeH="0" baseline="0">
                <a:solidFill>
                  <a:srgbClr val="1A1A1A"/>
                </a:solidFill>
                <a:latin typeface="Meiryo UI"/>
                <a:ea typeface="Meiryo UI"/>
              </a:rPr>
              <a:t>ライブラリーの使いこなしに苦労</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②　</a:t>
            </a:r>
            <a:r>
              <a:rPr kumimoji="0" lang="ja-JP" altLang="en-US" sz="1700" b="0" i="0" u="none" strike="noStrike" kern="0" cap="none" spc="0" normalizeH="0" baseline="0">
                <a:solidFill>
                  <a:srgbClr val="1A1A1A"/>
                </a:solidFill>
                <a:latin typeface="Meiryo UI"/>
              </a:rPr>
              <a:t>Tensorflow</a:t>
            </a:r>
            <a:r>
              <a:rPr kumimoji="0" lang="en-US" altLang="ja-JP" sz="1700" b="0" i="0" u="none" strike="noStrike" kern="0" cap="none" spc="0" normalizeH="0" baseline="0">
                <a:solidFill>
                  <a:srgbClr val="1A1A1A"/>
                </a:solidFill>
                <a:latin typeface="Meiryo UI"/>
              </a:rPr>
              <a:t>/</a:t>
            </a:r>
            <a:r>
              <a:rPr kumimoji="0" lang="ja-JP" altLang="en-US" sz="1700" b="0" i="0" u="none" strike="noStrike" kern="0" cap="none" spc="0" normalizeH="0" baseline="0">
                <a:solidFill>
                  <a:srgbClr val="1A1A1A"/>
                </a:solidFill>
                <a:latin typeface="Meiryo UI"/>
              </a:rPr>
              <a:t>Keras</a:t>
            </a:r>
            <a:r>
              <a:rPr kumimoji="0" lang="ja-JP" altLang="en-US" sz="1700" b="0" i="0" u="none" strike="noStrike" kern="0" cap="none" spc="0" normalizeH="0" baseline="0">
                <a:solidFill>
                  <a:srgbClr val="1A1A1A"/>
                </a:solidFill>
                <a:latin typeface="Meiryo UI"/>
                <a:ea typeface="Meiryo UI"/>
              </a:rPr>
              <a:t>における、正しい時系列</a:t>
            </a:r>
            <a:r>
              <a:rPr kumimoji="0" lang="ja-JP" altLang="en-US" sz="1700" b="0" i="0" u="none" strike="noStrike" kern="0" cap="none" spc="0" normalizeH="0" baseline="0">
                <a:solidFill>
                  <a:srgbClr val="1A1A1A"/>
                </a:solidFill>
                <a:latin typeface="Meiryo UI"/>
              </a:rPr>
              <a:t>Dataset</a:t>
            </a:r>
            <a:r>
              <a:rPr kumimoji="0" lang="ja-JP" altLang="en-US" sz="1700" b="0" i="0" u="none" strike="noStrike" kern="0" cap="none" spc="0" normalizeH="0" baseline="0">
                <a:solidFill>
                  <a:srgbClr val="1A1A1A"/>
                </a:solidFill>
                <a:latin typeface="Meiryo UI"/>
                <a:ea typeface="Meiryo UI"/>
              </a:rPr>
              <a:t>の作り方の習得・理解に苦労</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③　途中から、音トークン化から、数値入力式にしたため、大改造。。。</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sng" strike="noStrike" kern="0" cap="none" spc="0" normalizeH="0" baseline="0">
                <a:solidFill>
                  <a:srgbClr val="1A1A1A"/>
                </a:solidFill>
                <a:latin typeface="Meiryo UI"/>
                <a:ea typeface="Meiryo UI"/>
              </a:rPr>
              <a:t>＜できなかった点＞</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strike="noStrike" kern="0" cap="none" spc="0" normalizeH="0" baseline="0">
                <a:solidFill>
                  <a:srgbClr val="1A1A1A"/>
                </a:solidFill>
                <a:latin typeface="Meiryo UI"/>
                <a:ea typeface="Meiryo UI"/>
              </a:rPr>
              <a:t>①　自動作曲</a:t>
            </a:r>
            <a:r>
              <a:rPr kumimoji="0" lang="ja-JP" altLang="en-US" sz="1700" b="0" i="0" strike="noStrike" kern="0" cap="none" spc="0" normalizeH="0" baseline="0">
                <a:solidFill>
                  <a:srgbClr val="1A1A1A"/>
                </a:solidFill>
                <a:latin typeface="Meiryo UI"/>
              </a:rPr>
              <a:t>AI</a:t>
            </a:r>
            <a:r>
              <a:rPr kumimoji="0" lang="ja-JP" altLang="en-US" sz="1700" b="0" i="0" strike="noStrike" kern="0" cap="none" spc="0" normalizeH="0" baseline="0">
                <a:solidFill>
                  <a:srgbClr val="1A1A1A"/>
                </a:solidFill>
                <a:latin typeface="Meiryo UI"/>
                <a:ea typeface="Meiryo UI"/>
              </a:rPr>
              <a:t>のコードができ、動いても、</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strike="noStrike" kern="0" cap="none" spc="0" normalizeH="0" baseline="0">
                <a:solidFill>
                  <a:srgbClr val="1A1A1A"/>
                </a:solidFill>
                <a:latin typeface="Meiryo UI"/>
                <a:ea typeface="Meiryo UI"/>
              </a:rPr>
              <a:t>　　</a:t>
            </a:r>
            <a:r>
              <a:rPr kumimoji="0" lang="ja-JP" altLang="en-US" sz="1700" b="0" i="0" strike="noStrike" kern="0" cap="none" spc="0" normalizeH="0" baseline="0">
                <a:solidFill>
                  <a:srgbClr val="1A1A1A"/>
                </a:solidFill>
                <a:latin typeface="Meiryo UI"/>
              </a:rPr>
              <a:t> </a:t>
            </a:r>
            <a:r>
              <a:rPr kumimoji="0" lang="ja-JP" altLang="en-US" sz="1700" b="0" i="0" strike="noStrike" kern="0" cap="none" spc="0" normalizeH="0" baseline="0">
                <a:solidFill>
                  <a:srgbClr val="1A1A1A"/>
                </a:solidFill>
                <a:latin typeface="Meiryo UI"/>
                <a:ea typeface="Meiryo UI"/>
              </a:rPr>
              <a:t>生成される音が、毎回ほぼ同一音の連続音のみで、気が狂いそうになった、、、</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FF0000"/>
                </a:solidFill>
                <a:latin typeface="Meiryo UI"/>
                <a:ea typeface="Meiryo UI"/>
              </a:rPr>
              <a:t>　　</a:t>
            </a:r>
            <a:r>
              <a:rPr kumimoji="0" lang="ja-JP" altLang="en-US" sz="1700" b="0" i="0" u="none" strike="noStrike" kern="0" cap="none" spc="0" normalizeH="0" baseline="0">
                <a:solidFill>
                  <a:srgbClr val="FF0000"/>
                </a:solidFill>
                <a:latin typeface="Meiryo UI"/>
              </a:rPr>
              <a:t> </a:t>
            </a:r>
            <a:r>
              <a:rPr kumimoji="0" lang="ja-JP" altLang="en-US" sz="1700" b="0" i="0" u="none" strike="noStrike" kern="0" cap="none" spc="0" normalizeH="0" baseline="0">
                <a:solidFill>
                  <a:srgbClr val="FF0000"/>
                </a:solidFill>
                <a:latin typeface="Meiryo UI"/>
                <a:ea typeface="Meiryo UI"/>
              </a:rPr>
              <a:t>ただ、初めて最後まで動き、音が初めて生成</a:t>
            </a:r>
            <a:r>
              <a:rPr kumimoji="0" lang="ja-JP" altLang="en-US" sz="1700" b="0" i="0" u="none" strike="noStrike" kern="0" cap="none" spc="0" normalizeH="0" baseline="0">
                <a:solidFill>
                  <a:srgbClr val="FF0000"/>
                </a:solidFill>
                <a:latin typeface="Meiryo UI"/>
              </a:rPr>
              <a:t>※</a:t>
            </a:r>
            <a:r>
              <a:rPr kumimoji="0" lang="ja-JP" altLang="en-US" sz="1700" b="0" i="0" u="none" strike="noStrike" kern="0" cap="none" spc="0" normalizeH="0" baseline="0">
                <a:solidFill>
                  <a:srgbClr val="FF0000"/>
                </a:solidFill>
                <a:latin typeface="Meiryo UI"/>
                <a:ea typeface="Meiryo UI"/>
              </a:rPr>
              <a:t>された金曜の夜</a:t>
            </a:r>
            <a:r>
              <a:rPr kumimoji="0" lang="en-US" altLang="ja-JP" sz="1700" b="0" i="0" u="none" strike="noStrike" kern="0" cap="none" spc="0" normalizeH="0" baseline="0">
                <a:solidFill>
                  <a:srgbClr val="FF0000"/>
                </a:solidFill>
                <a:latin typeface="Meiryo UI"/>
              </a:rPr>
              <a:t>1:30</a:t>
            </a:r>
            <a:r>
              <a:rPr kumimoji="0" lang="ja-JP" altLang="en-US" sz="1700" b="0" i="0" u="none" strike="noStrike" kern="0" cap="none" spc="0" normalizeH="0" baseline="0">
                <a:solidFill>
                  <a:srgbClr val="FF0000"/>
                </a:solidFill>
                <a:latin typeface="Meiryo UI"/>
                <a:ea typeface="Meiryo UI"/>
              </a:rPr>
              <a:t>を忘れない。。。感動した。</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300" b="0" i="0" u="none" strike="noStrike" kern="0" cap="none" spc="0" normalizeH="0" baseline="0">
                <a:solidFill>
                  <a:schemeClr val="dk2"/>
                </a:solidFill>
                <a:latin typeface="Meiryo UI"/>
                <a:ea typeface="Meiryo UI"/>
              </a:rPr>
              <a:t>　　　</a:t>
            </a:r>
            <a:r>
              <a:rPr kumimoji="0" lang="ja-JP" altLang="en-US" sz="1300" b="0" i="0" u="none" strike="noStrike" kern="0" cap="none" spc="0" normalizeH="0" baseline="0">
                <a:solidFill>
                  <a:schemeClr val="dk2"/>
                </a:solidFill>
                <a:latin typeface="Meiryo UI"/>
              </a:rPr>
              <a:t>※</a:t>
            </a:r>
            <a:r>
              <a:rPr kumimoji="0" lang="ja-JP" altLang="en-US" sz="1300" b="0" i="0" u="none" strike="noStrike" kern="0" cap="none" spc="0" normalizeH="0" baseline="0">
                <a:solidFill>
                  <a:schemeClr val="dk2"/>
                </a:solidFill>
                <a:latin typeface="Meiryo UI"/>
                <a:ea typeface="Meiryo UI"/>
              </a:rPr>
              <a:t>絶望的なコード１発で曲が始まり、それで終わったと思いきや、</a:t>
            </a:r>
            <a:r>
              <a:rPr kumimoji="0" lang="en-US" altLang="ja-JP" sz="1300" b="0" i="0" u="none" strike="noStrike" kern="0" cap="none" spc="0" normalizeH="0" baseline="0">
                <a:solidFill>
                  <a:schemeClr val="dk2"/>
                </a:solidFill>
                <a:latin typeface="Meiryo UI"/>
              </a:rPr>
              <a:t>1</a:t>
            </a:r>
            <a:r>
              <a:rPr kumimoji="0" lang="ja-JP" altLang="en-US" sz="1300" b="0" i="0" u="none" strike="noStrike" kern="0" cap="none" spc="0" normalizeH="0" baseline="0">
                <a:solidFill>
                  <a:schemeClr val="dk2"/>
                </a:solidFill>
                <a:latin typeface="Meiryo UI"/>
                <a:ea typeface="Meiryo UI"/>
              </a:rPr>
              <a:t>分</a:t>
            </a:r>
            <a:r>
              <a:rPr kumimoji="0" lang="en-US" altLang="ja-JP" sz="1300" b="0" i="0" u="none" strike="noStrike" kern="0" cap="none" spc="0" normalizeH="0" baseline="0">
                <a:solidFill>
                  <a:schemeClr val="dk2"/>
                </a:solidFill>
                <a:latin typeface="Meiryo UI"/>
              </a:rPr>
              <a:t>30</a:t>
            </a:r>
            <a:r>
              <a:rPr kumimoji="0" lang="ja-JP" altLang="en-US" sz="1300" b="0" i="0" u="none" strike="noStrike" kern="0" cap="none" spc="0" normalizeH="0" baseline="0">
                <a:solidFill>
                  <a:schemeClr val="dk2"/>
                </a:solidFill>
                <a:latin typeface="Meiryo UI"/>
                <a:ea typeface="Meiryo UI"/>
              </a:rPr>
              <a:t>秒間　幼稚園児がドを押し続ける曲だった</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FF0000"/>
                </a:solidFill>
                <a:latin typeface="Meiryo UI"/>
                <a:ea typeface="Meiryo UI"/>
              </a:rPr>
              <a:t>　　</a:t>
            </a:r>
            <a:r>
              <a:rPr kumimoji="0" lang="ja-JP" altLang="en-US" sz="1700" b="0" i="0" u="none" strike="noStrike" kern="0" cap="none" spc="0" normalizeH="0" baseline="0">
                <a:solidFill>
                  <a:srgbClr val="FF0000"/>
                </a:solidFill>
                <a:latin typeface="Meiryo UI"/>
              </a:rPr>
              <a:t> ⇒</a:t>
            </a:r>
            <a:r>
              <a:rPr kumimoji="0" lang="ja-JP" altLang="en-US" sz="1700" b="0" i="0" u="none" strike="noStrike" kern="0" cap="none" spc="0" normalizeH="0" baseline="0">
                <a:solidFill>
                  <a:srgbClr val="FF0000"/>
                </a:solidFill>
                <a:latin typeface="Meiryo UI"/>
                <a:ea typeface="Meiryo UI"/>
              </a:rPr>
              <a:t>　</a:t>
            </a:r>
            <a:r>
              <a:rPr kumimoji="0" lang="ja-JP" altLang="en-US" sz="1700" b="0" i="0" u="none" strike="noStrike" kern="0" cap="none" spc="0" normalizeH="0" baseline="0">
                <a:solidFill>
                  <a:srgbClr val="FF0000"/>
                </a:solidFill>
                <a:latin typeface="Meiryo UI"/>
              </a:rPr>
              <a:t>train</a:t>
            </a:r>
            <a:r>
              <a:rPr kumimoji="0" lang="ja-JP" altLang="en-US" sz="1700" b="0" i="0" u="none" strike="noStrike" kern="0" cap="none" spc="0" normalizeH="0" baseline="0">
                <a:solidFill>
                  <a:srgbClr val="FF0000"/>
                </a:solidFill>
                <a:latin typeface="Meiryo UI"/>
                <a:ea typeface="Meiryo UI"/>
              </a:rPr>
              <a:t>データ増しましでこの傾向は薄まった。</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FF0000"/>
                </a:solidFill>
                <a:latin typeface="Meiryo UI"/>
                <a:ea typeface="Meiryo UI"/>
              </a:rPr>
              <a:t>　　　　　でも、改善しきれなかった。。。</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strike="noStrike" kern="0" cap="none" spc="0" normalizeH="0" baseline="0">
              <a:solidFill>
                <a:srgbClr val="1A1A1A"/>
              </a:solidFill>
              <a:latin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strike="noStrike" kern="0" cap="none" spc="0" normalizeH="0" baseline="0">
                <a:solidFill>
                  <a:srgbClr val="1A1A1A"/>
                </a:solidFill>
                <a:latin typeface="Meiryo UI"/>
                <a:ea typeface="Meiryo UI"/>
              </a:rPr>
              <a:t>②　多出力の</a:t>
            </a:r>
            <a:r>
              <a:rPr kumimoji="0" lang="ja-JP" altLang="en-US" sz="1700" b="0" i="0" strike="noStrike" kern="0" cap="none" spc="0" normalizeH="0" baseline="0">
                <a:solidFill>
                  <a:srgbClr val="1A1A1A"/>
                </a:solidFill>
                <a:latin typeface="Meiryo UI"/>
              </a:rPr>
              <a:t>Loss</a:t>
            </a:r>
            <a:r>
              <a:rPr kumimoji="0" lang="ja-JP" altLang="en-US" sz="1700" b="0" i="0" strike="noStrike" kern="0" cap="none" spc="0" normalizeH="0" baseline="0">
                <a:solidFill>
                  <a:srgbClr val="1A1A1A"/>
                </a:solidFill>
                <a:latin typeface="Meiryo UI"/>
                <a:ea typeface="Meiryo UI"/>
              </a:rPr>
              <a:t>バランスを取り</a:t>
            </a:r>
            <a:r>
              <a:rPr kumimoji="0" lang="ja-JP" altLang="en-US" sz="1700" b="0" i="0" strike="noStrike" kern="0" cap="none" spc="0" normalizeH="0" baseline="0">
                <a:solidFill>
                  <a:srgbClr val="1A1A1A"/>
                </a:solidFill>
                <a:latin typeface="Meiryo UI"/>
              </a:rPr>
              <a:t>Loss</a:t>
            </a:r>
            <a:r>
              <a:rPr kumimoji="0" lang="ja-JP" altLang="en-US" sz="1700" b="0" i="0" strike="noStrike" kern="0" cap="none" spc="0" normalizeH="0" baseline="0">
                <a:solidFill>
                  <a:srgbClr val="1A1A1A"/>
                </a:solidFill>
                <a:latin typeface="Meiryo UI"/>
                <a:ea typeface="Meiryo UI"/>
              </a:rPr>
              <a:t>収束させる事ができたが、予測精度アップまではできなかった。</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strike="noStrike" kern="0" cap="none" spc="0" normalizeH="0" baseline="0">
                <a:solidFill>
                  <a:srgbClr val="1A1A1A"/>
                </a:solidFill>
                <a:latin typeface="Meiryo UI"/>
                <a:ea typeface="Meiryo UI"/>
              </a:rPr>
              <a:t>　　</a:t>
            </a:r>
            <a:r>
              <a:rPr kumimoji="0" lang="ja-JP" altLang="en-US" sz="1700" b="0" i="0" strike="noStrike" kern="0" cap="none" spc="0" normalizeH="0" baseline="0">
                <a:solidFill>
                  <a:srgbClr val="1A1A1A"/>
                </a:solidFill>
                <a:latin typeface="Meiryo UI"/>
              </a:rPr>
              <a:t> </a:t>
            </a:r>
            <a:r>
              <a:rPr kumimoji="0" lang="ja-JP" altLang="en-US" sz="1700" b="0" i="0" strike="noStrike" kern="0" cap="none" spc="0" normalizeH="0" baseline="0">
                <a:solidFill>
                  <a:srgbClr val="1A1A1A"/>
                </a:solidFill>
                <a:latin typeface="Meiryo UI"/>
                <a:ea typeface="Meiryo UI"/>
              </a:rPr>
              <a:t>また、負になってはいけない予測出力を負にならないようにするのができず、強制的に正に補正</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FF0000"/>
              </a:solidFill>
              <a:latin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300" b="0" i="0" u="none" strike="noStrike" kern="0" cap="none" spc="0" normalizeH="0" baseline="0">
              <a:solidFill>
                <a:schemeClr val="dk2"/>
              </a:solidFill>
              <a:latin typeface="Meiryo UI"/>
              <a:ea typeface="Meiryo UI"/>
            </a:endParaRPr>
          </a:p>
        </p:txBody>
      </p:sp>
      <p:sp>
        <p:nvSpPr>
          <p:cNvPr id="3" name="Google Shape;115;p16"/>
          <p:cNvSpPr txBox="1"/>
          <p:nvPr/>
        </p:nvSpPr>
        <p:spPr>
          <a:xfrm>
            <a:off x="304134" y="226979"/>
            <a:ext cx="7071000" cy="385200"/>
          </a:xfrm>
          <a:prstGeom prst="rect">
            <a:avLst/>
          </a:prstGeom>
          <a:noFill/>
          <a:ln>
            <a:noFill/>
          </a:ln>
        </p:spPr>
        <p:txBody>
          <a:bodyPr wrap="square" lIns="91424" tIns="45700" rIns="91424" bIns="45700" anchor="t" anchorCtr="0">
            <a:noAutofit/>
          </a:bodyPr>
          <a:lstStyle/>
          <a:p>
            <a:pPr marL="0" marR="0" lvl="0" indent="0" algn="l" rtl="0" eaLnBrk="1" latinLnBrk="0" hangingPunct="1">
              <a:lnSpc>
                <a:spcPct val="100000"/>
              </a:lnSpc>
              <a:spcBef>
                <a:spcPts val="0"/>
              </a:spcBef>
              <a:spcAft>
                <a:spcPts val="0"/>
              </a:spcAft>
              <a:buClr>
                <a:srgbClr val="000000"/>
              </a:buClr>
              <a:buSzPct val="25000"/>
              <a:buFont typeface="Arial"/>
              <a:buNone/>
              <a:defRPr/>
            </a:pPr>
            <a:r>
              <a:rPr kumimoji="0" lang="ja-JP" altLang="en-US" sz="2000" b="0" i="0" u="none" strike="noStrike" kern="0" cap="none" spc="0" normalizeH="0" baseline="0">
                <a:solidFill>
                  <a:srgbClr val="000000"/>
                </a:solidFill>
                <a:latin typeface="Arial"/>
                <a:ea typeface="Arial"/>
                <a:cs typeface="Arial"/>
                <a:sym typeface="Arial"/>
              </a:rPr>
              <a:t>苦労した点、できなかった点</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p:cNvPicPr>
            <a:picLocks noChangeAspect="1"/>
          </p:cNvPicPr>
          <p:nvPr/>
        </p:nvPicPr>
        <p:blipFill rotWithShape="1">
          <a:blip r:embed="rId2"/>
          <a:stretch>
            <a:fillRect/>
          </a:stretch>
        </p:blipFill>
        <p:spPr>
          <a:xfrm>
            <a:off x="6627466" y="924056"/>
            <a:ext cx="2383184" cy="3631938"/>
          </a:xfrm>
          <a:prstGeom prst="rect">
            <a:avLst/>
          </a:prstGeom>
        </p:spPr>
      </p:pic>
      <p:sp>
        <p:nvSpPr>
          <p:cNvPr id="3" name="Google Shape;115;p16"/>
          <p:cNvSpPr txBox="1"/>
          <p:nvPr/>
        </p:nvSpPr>
        <p:spPr>
          <a:xfrm>
            <a:off x="304134" y="226979"/>
            <a:ext cx="7071000" cy="385200"/>
          </a:xfrm>
          <a:prstGeom prst="rect">
            <a:avLst/>
          </a:prstGeom>
          <a:noFill/>
          <a:ln>
            <a:noFill/>
          </a:ln>
        </p:spPr>
        <p:txBody>
          <a:bodyPr wrap="square" lIns="91424" tIns="45700" rIns="91424" bIns="45700" anchor="t" anchorCtr="0">
            <a:noAutofit/>
          </a:bodyPr>
          <a:lstStyle/>
          <a:p>
            <a:pPr marL="0" marR="0" lvl="0" indent="0" algn="l" rtl="0" eaLnBrk="1" latinLnBrk="0" hangingPunct="1">
              <a:lnSpc>
                <a:spcPct val="100000"/>
              </a:lnSpc>
              <a:spcBef>
                <a:spcPts val="0"/>
              </a:spcBef>
              <a:spcAft>
                <a:spcPts val="0"/>
              </a:spcAft>
              <a:buClr>
                <a:srgbClr val="000000"/>
              </a:buClr>
              <a:buSzPct val="25000"/>
              <a:buFont typeface="Arial"/>
              <a:buNone/>
              <a:defRPr/>
            </a:pPr>
            <a:r>
              <a:rPr kumimoji="0" lang="ja-JP" altLang="en-US" sz="2000" b="0" i="0" u="none" strike="noStrike" kern="0" cap="none" spc="0" normalizeH="0" baseline="0">
                <a:solidFill>
                  <a:srgbClr val="000000"/>
                </a:solidFill>
                <a:latin typeface="Arial"/>
                <a:ea typeface="Arial"/>
                <a:cs typeface="Arial"/>
                <a:sym typeface="Arial"/>
              </a:rPr>
              <a:t>謝辞</a:t>
            </a:r>
          </a:p>
        </p:txBody>
      </p:sp>
      <p:sp>
        <p:nvSpPr>
          <p:cNvPr id="4" name="Google Shape;199;p18"/>
          <p:cNvSpPr txBox="1"/>
          <p:nvPr/>
        </p:nvSpPr>
        <p:spPr>
          <a:xfrm>
            <a:off x="76200" y="799847"/>
            <a:ext cx="8692924" cy="3780372"/>
          </a:xfrm>
          <a:prstGeom prst="rect">
            <a:avLst/>
          </a:prstGeom>
          <a:noFill/>
          <a:ln>
            <a:noFill/>
          </a:ln>
        </p:spPr>
        <p:txBody>
          <a:bodyPr wrap="square" lIns="91424" tIns="45700" rIns="91424" bIns="45700" anchor="t" anchorCtr="0">
            <a:noAutofit/>
          </a:bodyPr>
          <a:lstStyle/>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sng" strike="noStrike" kern="0" cap="none" spc="0" normalizeH="0" baseline="0">
                <a:solidFill>
                  <a:srgbClr val="1A1A1A"/>
                </a:solidFill>
                <a:latin typeface="Meiryo UI"/>
                <a:ea typeface="Meiryo UI"/>
              </a:rPr>
              <a:t>＞講師の方々、古賀さん、吉田さん</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　特に、Bチーム担当いただいた木下さん、谷口さん、古賀さん、吉田さん　</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　お世話になりました！！</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a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　質問できる環境が、私にとって、とても大事な場でした。</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　質問できるとこまで十分に自分を浮上させるまでの過程で進歩していた。</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a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　</a:t>
            </a:r>
            <a:r>
              <a:rPr kumimoji="0" lang="ja-JP" altLang="en-US" sz="1700" b="0" i="0" u="none" strike="noStrike" kern="0" cap="none" spc="0" normalizeH="0" baseline="0">
                <a:solidFill>
                  <a:srgbClr val="FF0000"/>
                </a:solidFill>
                <a:latin typeface="Meiryo UI"/>
                <a:ea typeface="Meiryo UI"/>
              </a:rPr>
              <a:t>本講座受講と会社外の方々と会えた事で、</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FF0000"/>
                </a:solidFill>
                <a:latin typeface="Meiryo UI"/>
                <a:ea typeface="Meiryo UI"/>
              </a:rPr>
              <a:t>　今後のキャリアを考えるいいきっかけになりました！</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a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sng" strike="noStrike" kern="0" cap="none" spc="0" normalizeH="0" baseline="0">
                <a:solidFill>
                  <a:srgbClr val="1A1A1A"/>
                </a:solidFill>
                <a:latin typeface="Meiryo UI"/>
                <a:ea typeface="Meiryo UI"/>
              </a:rPr>
              <a:t>＞同期の皆様、なにより雑談部屋とＡチームの皆様</a:t>
            </a: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1A1A1A"/>
                </a:solidFill>
                <a:latin typeface="Meiryo UI"/>
                <a:ea typeface="Meiryo UI"/>
              </a:rPr>
              <a:t>　同じ苦悩を持ち、ぐちりあい、たわいもない話が、安らぎの場でした。</a:t>
            </a:r>
          </a:p>
          <a:p>
            <a:pPr marL="152400" marR="0" lvl="0" indent="0" algn="l" rtl="0" eaLnBrk="1" latinLnBrk="0" hangingPunct="1">
              <a:lnSpc>
                <a:spcPct val="90000"/>
              </a:lnSpc>
              <a:spcBef>
                <a:spcPts val="0"/>
              </a:spcBef>
              <a:spcAft>
                <a:spcPts val="0"/>
              </a:spcAft>
              <a:buClr>
                <a:schemeClr val="dk2"/>
              </a:buClr>
              <a:buSzPct val="25000"/>
              <a:buFont typeface="Arial"/>
              <a:buNone/>
              <a:defRPr/>
            </a:pPr>
            <a:endParaRPr kumimoji="0" lang="ja-JP" altLang="en-US" sz="1700" b="0" i="0" u="none" strike="noStrike" kern="0" cap="none" spc="0" normalizeH="0" baseline="0">
              <a:solidFill>
                <a:srgbClr val="1A1A1A"/>
              </a:solidFill>
              <a:latin typeface="Meiryo UI"/>
              <a:ea typeface="Meiryo UI"/>
            </a:endParaRPr>
          </a:p>
          <a:p>
            <a:pPr marL="152400" marR="0" lvl="0" indent="0" algn="l" rtl="0" eaLnBrk="1" latinLnBrk="0" hangingPunct="1">
              <a:lnSpc>
                <a:spcPct val="90000"/>
              </a:lnSpc>
              <a:spcBef>
                <a:spcPts val="0"/>
              </a:spcBef>
              <a:spcAft>
                <a:spcPts val="0"/>
              </a:spcAft>
              <a:buClr>
                <a:schemeClr val="dk2"/>
              </a:buClr>
              <a:buSzPct val="25000"/>
              <a:buFont typeface="Arial"/>
              <a:buNone/>
              <a:defRPr/>
            </a:pPr>
            <a:r>
              <a:rPr kumimoji="0" lang="ja-JP" altLang="en-US" sz="1700" b="0" i="0" u="none" strike="noStrike" kern="0" cap="none" spc="0" normalizeH="0" baseline="0">
                <a:solidFill>
                  <a:srgbClr val="0000FF"/>
                </a:solidFill>
                <a:latin typeface="Meiryo UI"/>
                <a:ea typeface="Meiryo UI"/>
              </a:rPr>
              <a:t>　</a:t>
            </a:r>
            <a:r>
              <a:rPr kumimoji="0" lang="ja-JP" altLang="en-US" sz="1700" b="0" i="0" u="none" strike="noStrike" kern="0" cap="none" spc="0" normalizeH="0" baseline="0">
                <a:solidFill>
                  <a:srgbClr val="FF0000"/>
                </a:solidFill>
                <a:latin typeface="Meiryo UI"/>
                <a:ea typeface="Meiryo UI"/>
              </a:rPr>
              <a:t>引き続き、宜しくお願いいたします！</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78;p18"/>
          <p:cNvSpPr txBox="1"/>
          <p:nvPr/>
        </p:nvSpPr>
        <p:spPr>
          <a:xfrm>
            <a:off x="304134" y="226979"/>
            <a:ext cx="1322579" cy="385200"/>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100000"/>
              </a:lnSpc>
              <a:spcBef>
                <a:spcPts val="0"/>
              </a:spcBef>
              <a:spcAft>
                <a:spcPts val="0"/>
              </a:spcAft>
              <a:buClr>
                <a:srgbClr val="000000"/>
              </a:buClr>
              <a:buSzPct val="25000"/>
              <a:buFont typeface="Arial"/>
              <a:buNone/>
              <a:defRPr/>
            </a:pPr>
            <a:r>
              <a:rPr kumimoji="0" lang="ja-JP" altLang="en-US" sz="2000" b="0" i="0" u="none" strike="noStrike" kern="0" cap="none" spc="0" normalizeH="0" baseline="0">
                <a:solidFill>
                  <a:srgbClr val="000000"/>
                </a:solidFill>
                <a:latin typeface="Arial"/>
                <a:ea typeface="Arial"/>
                <a:cs typeface="Arial"/>
                <a:sym typeface="Arial"/>
              </a:rPr>
              <a:t>参考文献</a:t>
            </a:r>
          </a:p>
        </p:txBody>
      </p:sp>
      <p:pic>
        <p:nvPicPr>
          <p:cNvPr id="4" name="図 3"/>
          <p:cNvPicPr>
            <a:picLocks noChangeAspect="1"/>
          </p:cNvPicPr>
          <p:nvPr/>
        </p:nvPicPr>
        <p:blipFill rotWithShape="1">
          <a:blip r:embed="rId2"/>
          <a:stretch>
            <a:fillRect/>
          </a:stretch>
        </p:blipFill>
        <p:spPr>
          <a:xfrm>
            <a:off x="5025624" y="723396"/>
            <a:ext cx="859312" cy="1177423"/>
          </a:xfrm>
          <a:prstGeom prst="rect">
            <a:avLst/>
          </a:prstGeom>
        </p:spPr>
      </p:pic>
      <p:pic>
        <p:nvPicPr>
          <p:cNvPr id="5" name="図 4"/>
          <p:cNvPicPr>
            <a:picLocks noChangeAspect="1"/>
          </p:cNvPicPr>
          <p:nvPr/>
        </p:nvPicPr>
        <p:blipFill rotWithShape="1">
          <a:blip r:embed="rId3"/>
          <a:stretch>
            <a:fillRect/>
          </a:stretch>
        </p:blipFill>
        <p:spPr>
          <a:xfrm>
            <a:off x="4429125" y="2571750"/>
            <a:ext cx="0" cy="0"/>
          </a:xfrm>
          <a:prstGeom prst="rect">
            <a:avLst/>
          </a:prstGeom>
        </p:spPr>
      </p:pic>
      <p:pic>
        <p:nvPicPr>
          <p:cNvPr id="6" name="図 5"/>
          <p:cNvPicPr>
            <a:picLocks noChangeAspect="1"/>
          </p:cNvPicPr>
          <p:nvPr/>
        </p:nvPicPr>
        <p:blipFill rotWithShape="1">
          <a:blip r:embed="rId4"/>
          <a:stretch>
            <a:fillRect/>
          </a:stretch>
        </p:blipFill>
        <p:spPr>
          <a:xfrm>
            <a:off x="4591050" y="2705100"/>
            <a:ext cx="0" cy="0"/>
          </a:xfrm>
          <a:prstGeom prst="rect">
            <a:avLst/>
          </a:prstGeom>
        </p:spPr>
      </p:pic>
      <p:pic>
        <p:nvPicPr>
          <p:cNvPr id="7" name="図 6"/>
          <p:cNvPicPr>
            <a:picLocks noChangeAspect="1"/>
          </p:cNvPicPr>
          <p:nvPr/>
        </p:nvPicPr>
        <p:blipFill rotWithShape="1">
          <a:blip r:embed="rId5"/>
          <a:stretch>
            <a:fillRect/>
          </a:stretch>
        </p:blipFill>
        <p:spPr>
          <a:xfrm>
            <a:off x="7263600" y="2266451"/>
            <a:ext cx="887393" cy="1206166"/>
          </a:xfrm>
          <a:prstGeom prst="rect">
            <a:avLst/>
          </a:prstGeom>
        </p:spPr>
      </p:pic>
      <p:pic>
        <p:nvPicPr>
          <p:cNvPr id="8" name="図 7"/>
          <p:cNvPicPr>
            <a:picLocks noChangeAspect="1"/>
          </p:cNvPicPr>
          <p:nvPr/>
        </p:nvPicPr>
        <p:blipFill rotWithShape="1">
          <a:blip r:embed="rId6"/>
          <a:stretch>
            <a:fillRect/>
          </a:stretch>
        </p:blipFill>
        <p:spPr>
          <a:xfrm>
            <a:off x="4743450" y="2857500"/>
            <a:ext cx="0" cy="0"/>
          </a:xfrm>
          <a:prstGeom prst="rect">
            <a:avLst/>
          </a:prstGeom>
        </p:spPr>
      </p:pic>
      <p:pic>
        <p:nvPicPr>
          <p:cNvPr id="9" name="図 8"/>
          <p:cNvPicPr>
            <a:picLocks noChangeAspect="1"/>
          </p:cNvPicPr>
          <p:nvPr/>
        </p:nvPicPr>
        <p:blipFill rotWithShape="1">
          <a:blip r:embed="rId7"/>
          <a:stretch>
            <a:fillRect/>
          </a:stretch>
        </p:blipFill>
        <p:spPr>
          <a:xfrm>
            <a:off x="6003724" y="721928"/>
            <a:ext cx="881831" cy="1197075"/>
          </a:xfrm>
          <a:prstGeom prst="rect">
            <a:avLst/>
          </a:prstGeom>
        </p:spPr>
      </p:pic>
      <p:pic>
        <p:nvPicPr>
          <p:cNvPr id="10" name="図 9"/>
          <p:cNvPicPr>
            <a:picLocks noChangeAspect="1"/>
          </p:cNvPicPr>
          <p:nvPr/>
        </p:nvPicPr>
        <p:blipFill rotWithShape="1">
          <a:blip r:embed="rId8"/>
          <a:stretch>
            <a:fillRect/>
          </a:stretch>
        </p:blipFill>
        <p:spPr>
          <a:xfrm>
            <a:off x="7134926" y="706352"/>
            <a:ext cx="899192" cy="1239186"/>
          </a:xfrm>
          <a:prstGeom prst="rect">
            <a:avLst/>
          </a:prstGeom>
        </p:spPr>
      </p:pic>
      <p:pic>
        <p:nvPicPr>
          <p:cNvPr id="11" name="図 10"/>
          <p:cNvPicPr>
            <a:picLocks noChangeAspect="1"/>
          </p:cNvPicPr>
          <p:nvPr/>
        </p:nvPicPr>
        <p:blipFill rotWithShape="1">
          <a:blip r:embed="rId9"/>
          <a:stretch>
            <a:fillRect/>
          </a:stretch>
        </p:blipFill>
        <p:spPr>
          <a:xfrm>
            <a:off x="8143038" y="738503"/>
            <a:ext cx="850595" cy="1205698"/>
          </a:xfrm>
          <a:prstGeom prst="rect">
            <a:avLst/>
          </a:prstGeom>
        </p:spPr>
      </p:pic>
      <p:pic>
        <p:nvPicPr>
          <p:cNvPr id="12" name="図 11"/>
          <p:cNvPicPr>
            <a:picLocks noChangeAspect="1"/>
          </p:cNvPicPr>
          <p:nvPr/>
        </p:nvPicPr>
        <p:blipFill rotWithShape="1">
          <a:blip r:embed="rId10"/>
          <a:stretch>
            <a:fillRect/>
          </a:stretch>
        </p:blipFill>
        <p:spPr>
          <a:xfrm>
            <a:off x="5038725" y="3038475"/>
            <a:ext cx="0" cy="0"/>
          </a:xfrm>
          <a:prstGeom prst="rect">
            <a:avLst/>
          </a:prstGeom>
        </p:spPr>
      </p:pic>
      <p:pic>
        <p:nvPicPr>
          <p:cNvPr id="13" name="図 12"/>
          <p:cNvPicPr>
            <a:picLocks noChangeAspect="1"/>
          </p:cNvPicPr>
          <p:nvPr/>
        </p:nvPicPr>
        <p:blipFill rotWithShape="1">
          <a:blip r:embed="rId11"/>
          <a:stretch>
            <a:fillRect/>
          </a:stretch>
        </p:blipFill>
        <p:spPr>
          <a:xfrm>
            <a:off x="6124143" y="3785603"/>
            <a:ext cx="924471" cy="1178493"/>
          </a:xfrm>
          <a:prstGeom prst="rect">
            <a:avLst/>
          </a:prstGeom>
        </p:spPr>
      </p:pic>
      <p:pic>
        <p:nvPicPr>
          <p:cNvPr id="14" name="図 13"/>
          <p:cNvPicPr>
            <a:picLocks noChangeAspect="1"/>
          </p:cNvPicPr>
          <p:nvPr/>
        </p:nvPicPr>
        <p:blipFill rotWithShape="1">
          <a:blip r:embed="rId12"/>
          <a:stretch>
            <a:fillRect/>
          </a:stretch>
        </p:blipFill>
        <p:spPr>
          <a:xfrm>
            <a:off x="5059779" y="3815680"/>
            <a:ext cx="914400" cy="1143000"/>
          </a:xfrm>
          <a:prstGeom prst="rect">
            <a:avLst/>
          </a:prstGeom>
        </p:spPr>
      </p:pic>
      <p:pic>
        <p:nvPicPr>
          <p:cNvPr id="15" name="図 14"/>
          <p:cNvPicPr>
            <a:picLocks noChangeAspect="1"/>
          </p:cNvPicPr>
          <p:nvPr/>
        </p:nvPicPr>
        <p:blipFill rotWithShape="1">
          <a:blip r:embed="rId13"/>
          <a:stretch>
            <a:fillRect/>
          </a:stretch>
        </p:blipFill>
        <p:spPr>
          <a:xfrm>
            <a:off x="5191125" y="3190875"/>
            <a:ext cx="0" cy="0"/>
          </a:xfrm>
          <a:prstGeom prst="rect">
            <a:avLst/>
          </a:prstGeom>
        </p:spPr>
      </p:pic>
      <p:pic>
        <p:nvPicPr>
          <p:cNvPr id="16" name="図 15"/>
          <p:cNvPicPr>
            <a:picLocks noChangeAspect="1"/>
          </p:cNvPicPr>
          <p:nvPr/>
        </p:nvPicPr>
        <p:blipFill rotWithShape="1">
          <a:blip r:embed="rId14"/>
          <a:stretch>
            <a:fillRect/>
          </a:stretch>
        </p:blipFill>
        <p:spPr>
          <a:xfrm>
            <a:off x="6001584" y="2325905"/>
            <a:ext cx="864880" cy="1104386"/>
          </a:xfrm>
          <a:prstGeom prst="rect">
            <a:avLst/>
          </a:prstGeom>
        </p:spPr>
      </p:pic>
      <p:pic>
        <p:nvPicPr>
          <p:cNvPr id="17" name="図 16"/>
          <p:cNvPicPr>
            <a:picLocks noChangeAspect="1"/>
          </p:cNvPicPr>
          <p:nvPr/>
        </p:nvPicPr>
        <p:blipFill rotWithShape="1">
          <a:blip r:embed="rId15"/>
          <a:stretch>
            <a:fillRect/>
          </a:stretch>
        </p:blipFill>
        <p:spPr>
          <a:xfrm>
            <a:off x="5050288" y="2325905"/>
            <a:ext cx="861060" cy="1059180"/>
          </a:xfrm>
          <a:prstGeom prst="rect">
            <a:avLst/>
          </a:prstGeom>
        </p:spPr>
      </p:pic>
      <p:sp>
        <p:nvSpPr>
          <p:cNvPr id="18" name="Google Shape;117;p16"/>
          <p:cNvSpPr txBox="1"/>
          <p:nvPr/>
        </p:nvSpPr>
        <p:spPr>
          <a:xfrm>
            <a:off x="5005661" y="450040"/>
            <a:ext cx="1163782"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pytorch</a:t>
            </a:r>
          </a:p>
        </p:txBody>
      </p:sp>
      <p:sp>
        <p:nvSpPr>
          <p:cNvPr id="19" name="Google Shape;117;p16"/>
          <p:cNvSpPr txBox="1"/>
          <p:nvPr/>
        </p:nvSpPr>
        <p:spPr>
          <a:xfrm>
            <a:off x="7152461" y="466557"/>
            <a:ext cx="1038454"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前処理</a:t>
            </a:r>
          </a:p>
        </p:txBody>
      </p:sp>
      <p:sp>
        <p:nvSpPr>
          <p:cNvPr id="20" name="Google Shape;117;p16"/>
          <p:cNvSpPr txBox="1"/>
          <p:nvPr/>
        </p:nvSpPr>
        <p:spPr>
          <a:xfrm>
            <a:off x="5017359" y="2032193"/>
            <a:ext cx="1790427"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Tensorflow</a:t>
            </a:r>
            <a:r>
              <a:rPr kumimoji="0" lang="en-US" altLang="ja-JP" b="0" i="0" u="none" strike="noStrike" kern="0" cap="none" spc="0" normalizeH="0" baseline="0">
                <a:solidFill>
                  <a:srgbClr val="1A1A1A"/>
                </a:solidFill>
                <a:latin typeface="Meiryo UI"/>
                <a:ea typeface="Meiryo UI"/>
              </a:rPr>
              <a:t>/</a:t>
            </a:r>
            <a:r>
              <a:rPr kumimoji="0" lang="ja-JP" altLang="en-US" b="0" i="0" u="none" strike="noStrike" kern="0" cap="none" spc="0" normalizeH="0" baseline="0">
                <a:solidFill>
                  <a:srgbClr val="1A1A1A"/>
                </a:solidFill>
                <a:latin typeface="Meiryo UI"/>
                <a:ea typeface="Meiryo UI"/>
              </a:rPr>
              <a:t>keras</a:t>
            </a:r>
          </a:p>
        </p:txBody>
      </p:sp>
      <p:sp>
        <p:nvSpPr>
          <p:cNvPr id="21" name="Google Shape;117;p16"/>
          <p:cNvSpPr txBox="1"/>
          <p:nvPr/>
        </p:nvSpPr>
        <p:spPr>
          <a:xfrm>
            <a:off x="7252559" y="2045228"/>
            <a:ext cx="1071874"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機械学習</a:t>
            </a:r>
          </a:p>
        </p:txBody>
      </p:sp>
      <p:sp>
        <p:nvSpPr>
          <p:cNvPr id="22" name="Google Shape;117;p16"/>
          <p:cNvSpPr txBox="1"/>
          <p:nvPr/>
        </p:nvSpPr>
        <p:spPr>
          <a:xfrm>
            <a:off x="5046101" y="3547839"/>
            <a:ext cx="1071874"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Django</a:t>
            </a:r>
          </a:p>
        </p:txBody>
      </p:sp>
      <p:sp>
        <p:nvSpPr>
          <p:cNvPr id="23" name="Google Shape;117;p16"/>
          <p:cNvSpPr txBox="1"/>
          <p:nvPr/>
        </p:nvSpPr>
        <p:spPr>
          <a:xfrm>
            <a:off x="6116745" y="3546669"/>
            <a:ext cx="1071874"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自動作曲</a:t>
            </a:r>
          </a:p>
        </p:txBody>
      </p:sp>
      <p:pic>
        <p:nvPicPr>
          <p:cNvPr id="24" name="図 23"/>
          <p:cNvPicPr>
            <a:picLocks noChangeAspect="1"/>
          </p:cNvPicPr>
          <p:nvPr/>
        </p:nvPicPr>
        <p:blipFill rotWithShape="1">
          <a:blip r:embed="rId16"/>
          <a:stretch>
            <a:fillRect/>
          </a:stretch>
        </p:blipFill>
        <p:spPr>
          <a:xfrm>
            <a:off x="7269013" y="3775283"/>
            <a:ext cx="895241" cy="1248861"/>
          </a:xfrm>
          <a:prstGeom prst="rect">
            <a:avLst/>
          </a:prstGeom>
        </p:spPr>
      </p:pic>
      <p:sp>
        <p:nvSpPr>
          <p:cNvPr id="25" name="Google Shape;117;p16"/>
          <p:cNvSpPr txBox="1"/>
          <p:nvPr/>
        </p:nvSpPr>
        <p:spPr>
          <a:xfrm>
            <a:off x="7263422" y="3547504"/>
            <a:ext cx="1640032"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none" strike="noStrike" kern="0" cap="none" spc="0" normalizeH="0" baseline="0">
                <a:solidFill>
                  <a:srgbClr val="1A1A1A"/>
                </a:solidFill>
                <a:latin typeface="Meiryo UI"/>
                <a:ea typeface="Meiryo UI"/>
              </a:rPr>
              <a:t>自然言語処理</a:t>
            </a:r>
          </a:p>
        </p:txBody>
      </p:sp>
      <p:pic>
        <p:nvPicPr>
          <p:cNvPr id="26" name="図 25"/>
          <p:cNvPicPr>
            <a:picLocks noChangeAspect="1"/>
          </p:cNvPicPr>
          <p:nvPr/>
        </p:nvPicPr>
        <p:blipFill rotWithShape="1">
          <a:blip r:embed="rId17"/>
          <a:stretch>
            <a:fillRect/>
          </a:stretch>
        </p:blipFill>
        <p:spPr>
          <a:xfrm>
            <a:off x="655819" y="1065659"/>
            <a:ext cx="2711942" cy="1389116"/>
          </a:xfrm>
          <a:prstGeom prst="rect">
            <a:avLst/>
          </a:prstGeom>
        </p:spPr>
      </p:pic>
      <p:pic>
        <p:nvPicPr>
          <p:cNvPr id="27" name="図 26"/>
          <p:cNvPicPr>
            <a:picLocks noChangeAspect="1"/>
          </p:cNvPicPr>
          <p:nvPr/>
        </p:nvPicPr>
        <p:blipFill rotWithShape="1">
          <a:blip r:embed="rId18"/>
          <a:stretch>
            <a:fillRect/>
          </a:stretch>
        </p:blipFill>
        <p:spPr>
          <a:xfrm>
            <a:off x="661579" y="2779502"/>
            <a:ext cx="2698071" cy="1204732"/>
          </a:xfrm>
          <a:prstGeom prst="rect">
            <a:avLst/>
          </a:prstGeom>
        </p:spPr>
      </p:pic>
      <p:sp>
        <p:nvSpPr>
          <p:cNvPr id="28" name="Google Shape;117;p16"/>
          <p:cNvSpPr txBox="1"/>
          <p:nvPr/>
        </p:nvSpPr>
        <p:spPr>
          <a:xfrm>
            <a:off x="335069" y="627837"/>
            <a:ext cx="3052071"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b="0" i="0" u="none" strike="noStrike" kern="0" cap="none" spc="0" normalizeH="0" baseline="0">
                <a:solidFill>
                  <a:srgbClr val="1A1A1A"/>
                </a:solidFill>
                <a:latin typeface="Meiryo UI"/>
                <a:ea typeface="Meiryo UI"/>
              </a:rPr>
              <a:t>主に参考にした自動作曲AIの実装方法</a:t>
            </a:r>
          </a:p>
        </p:txBody>
      </p:sp>
      <p:sp>
        <p:nvSpPr>
          <p:cNvPr id="29" name="テキスト ボックス 28"/>
          <p:cNvSpPr txBox="1"/>
          <p:nvPr/>
        </p:nvSpPr>
        <p:spPr>
          <a:xfrm>
            <a:off x="397708" y="925762"/>
            <a:ext cx="4160922" cy="272483"/>
          </a:xfrm>
          <a:prstGeom prst="rect">
            <a:avLst/>
          </a:prstGeom>
        </p:spPr>
        <p:txBody>
          <a:bodyPr wrap="square">
            <a:spAutoFit/>
          </a:bodyPr>
          <a:lstStyle/>
          <a:p>
            <a:pPr marL="0" marR="0" lvl="0" indent="0" algn="l" rtl="0">
              <a:lnSpc>
                <a:spcPct val="90000"/>
              </a:lnSpc>
              <a:spcBef>
                <a:spcPts val="0"/>
              </a:spcBef>
              <a:spcAft>
                <a:spcPts val="0"/>
              </a:spcAft>
              <a:buClr>
                <a:srgbClr val="000000"/>
              </a:buClr>
              <a:buSzPct val="25000"/>
              <a:buFont typeface="Arial"/>
              <a:buNone/>
              <a:defRPr/>
            </a:pPr>
            <a:r>
              <a:rPr lang="en-US" altLang="ja-JP" b="0" i="0" u="sng" strike="noStrike" cap="none">
                <a:solidFill>
                  <a:schemeClr val="dk2"/>
                </a:solidFill>
                <a:latin typeface="Meiryo UI"/>
                <a:ea typeface="Meiryo UI"/>
              </a:rPr>
              <a:t>1</a:t>
            </a:r>
            <a:r>
              <a:rPr lang="ja-JP" altLang="en-US" b="0" i="0" u="sng" strike="noStrike" cap="none">
                <a:solidFill>
                  <a:schemeClr val="dk2"/>
                </a:solidFill>
                <a:latin typeface="Meiryo UI"/>
                <a:ea typeface="Meiryo UI"/>
              </a:rPr>
              <a:t>）音トークン化＋多層LSTMモデル</a:t>
            </a:r>
            <a:r>
              <a:rPr lang="en-US" altLang="ja-JP" b="0" i="0" u="sng" strike="noStrike" cap="none">
                <a:solidFill>
                  <a:schemeClr val="dk2"/>
                </a:solidFill>
                <a:latin typeface="Meiryo UI"/>
                <a:ea typeface="Meiryo UI"/>
              </a:rPr>
              <a:t>@</a:t>
            </a:r>
            <a:r>
              <a:rPr lang="ja-JP" altLang="en-US" b="0" i="0" u="sng" strike="noStrike" cap="none">
                <a:solidFill>
                  <a:schemeClr val="dk2"/>
                </a:solidFill>
                <a:latin typeface="Meiryo UI"/>
                <a:ea typeface="Meiryo UI"/>
              </a:rPr>
              <a:t>music</a:t>
            </a:r>
            <a:r>
              <a:rPr lang="en-US" altLang="ja-JP" b="0" i="0" u="sng" strike="noStrike" cap="none">
                <a:solidFill>
                  <a:schemeClr val="dk2"/>
                </a:solidFill>
                <a:latin typeface="Meiryo UI"/>
                <a:ea typeface="Meiryo UI"/>
              </a:rPr>
              <a:t>21</a:t>
            </a:r>
          </a:p>
        </p:txBody>
      </p:sp>
      <p:sp>
        <p:nvSpPr>
          <p:cNvPr id="30" name="テキスト ボックス 29"/>
          <p:cNvSpPr txBox="1"/>
          <p:nvPr/>
        </p:nvSpPr>
        <p:spPr>
          <a:xfrm>
            <a:off x="406063" y="2600325"/>
            <a:ext cx="4561972" cy="274320"/>
          </a:xfrm>
          <a:prstGeom prst="rect">
            <a:avLst/>
          </a:prstGeom>
        </p:spPr>
        <p:txBody>
          <a:bodyPr wrap="square">
            <a:spAutoFit/>
          </a:bodyPr>
          <a:lstStyle/>
          <a:p>
            <a:pPr marL="0" marR="0" lvl="0" indent="0" algn="l" rtl="0">
              <a:lnSpc>
                <a:spcPct val="90000"/>
              </a:lnSpc>
              <a:spcBef>
                <a:spcPts val="0"/>
              </a:spcBef>
              <a:spcAft>
                <a:spcPts val="0"/>
              </a:spcAft>
              <a:buClr>
                <a:srgbClr val="000000"/>
              </a:buClr>
              <a:buSzPct val="25000"/>
              <a:buFont typeface="Arial"/>
              <a:buNone/>
              <a:defRPr/>
            </a:pPr>
            <a:r>
              <a:rPr lang="en-US" altLang="ja-JP" b="0" i="0" u="sng" strike="noStrike" cap="none">
                <a:solidFill>
                  <a:schemeClr val="dk2"/>
                </a:solidFill>
                <a:latin typeface="Meiryo UI"/>
                <a:ea typeface="Meiryo UI"/>
              </a:rPr>
              <a:t>2</a:t>
            </a:r>
            <a:r>
              <a:rPr lang="ja-JP" altLang="en-US" b="0" i="0" u="sng" strike="noStrike" cap="none">
                <a:solidFill>
                  <a:schemeClr val="dk2"/>
                </a:solidFill>
                <a:latin typeface="Meiryo UI"/>
                <a:ea typeface="Meiryo UI"/>
              </a:rPr>
              <a:t>）</a:t>
            </a:r>
            <a:r>
              <a:rPr lang="en-US" altLang="ja-JP" b="0" i="0" u="sng" strike="noStrike" cap="none">
                <a:solidFill>
                  <a:schemeClr val="dk2"/>
                </a:solidFill>
                <a:latin typeface="Meiryo UI"/>
                <a:ea typeface="Meiryo UI"/>
              </a:rPr>
              <a:t>128</a:t>
            </a:r>
            <a:r>
              <a:rPr lang="ja-JP" altLang="en-US" b="0" i="0" u="sng" strike="noStrike" cap="none">
                <a:solidFill>
                  <a:schemeClr val="dk2"/>
                </a:solidFill>
                <a:latin typeface="Meiryo UI"/>
                <a:ea typeface="Meiryo UI"/>
              </a:rPr>
              <a:t>分類化＋多層LSTM多出力モデル</a:t>
            </a:r>
            <a:r>
              <a:rPr lang="en-US" altLang="ja-JP" b="0" i="0" u="sng" strike="noStrike" cap="none">
                <a:solidFill>
                  <a:schemeClr val="dk2"/>
                </a:solidFill>
                <a:latin typeface="Meiryo UI"/>
                <a:ea typeface="Meiryo UI"/>
              </a:rPr>
              <a:t>@</a:t>
            </a:r>
            <a:r>
              <a:rPr lang="ja-JP" altLang="en-US" b="0" i="0" u="sng" strike="noStrike" cap="none">
                <a:solidFill>
                  <a:schemeClr val="dk2"/>
                </a:solidFill>
                <a:latin typeface="Meiryo UI"/>
                <a:ea typeface="Meiryo UI"/>
              </a:rPr>
              <a:t>pretty</a:t>
            </a:r>
            <a:r>
              <a:rPr lang="en-US" altLang="ja-JP" b="0" i="0" u="sng" strike="noStrike" cap="none">
                <a:solidFill>
                  <a:schemeClr val="dk2"/>
                </a:solidFill>
                <a:latin typeface="Meiryo UI"/>
                <a:ea typeface="Meiryo UI"/>
              </a:rPr>
              <a:t>-</a:t>
            </a:r>
            <a:r>
              <a:rPr lang="ja-JP" altLang="en-US" b="0" i="0" u="sng" strike="noStrike" cap="none">
                <a:solidFill>
                  <a:schemeClr val="dk2"/>
                </a:solidFill>
                <a:latin typeface="Meiryo UI"/>
                <a:ea typeface="Meiryo UI"/>
              </a:rPr>
              <a:t>midi</a:t>
            </a:r>
          </a:p>
        </p:txBody>
      </p:sp>
      <p:sp>
        <p:nvSpPr>
          <p:cNvPr id="31" name="テキスト ボックス 30"/>
          <p:cNvSpPr txBox="1"/>
          <p:nvPr/>
        </p:nvSpPr>
        <p:spPr>
          <a:xfrm>
            <a:off x="380997" y="4015874"/>
            <a:ext cx="4511841" cy="277996"/>
          </a:xfrm>
          <a:prstGeom prst="rect">
            <a:avLst/>
          </a:prstGeom>
        </p:spPr>
        <p:txBody>
          <a:bodyPr wrap="square">
            <a:spAutoFit/>
          </a:bodyPr>
          <a:lstStyle/>
          <a:p>
            <a:pPr marL="0" marR="0" lvl="0" indent="0" algn="l" rtl="0">
              <a:lnSpc>
                <a:spcPct val="90000"/>
              </a:lnSpc>
              <a:spcBef>
                <a:spcPts val="0"/>
              </a:spcBef>
              <a:spcAft>
                <a:spcPts val="0"/>
              </a:spcAft>
              <a:buClr>
                <a:srgbClr val="000000"/>
              </a:buClr>
              <a:buSzPct val="25000"/>
              <a:buFont typeface="Arial"/>
              <a:buNone/>
              <a:defRPr/>
            </a:pPr>
            <a:r>
              <a:rPr lang="en-US" altLang="ja-JP" b="0" i="0" u="sng" strike="noStrike" cap="none">
                <a:solidFill>
                  <a:schemeClr val="dk2"/>
                </a:solidFill>
                <a:latin typeface="Meiryo UI"/>
                <a:ea typeface="Meiryo UI"/>
              </a:rPr>
              <a:t>3</a:t>
            </a:r>
            <a:r>
              <a:rPr lang="ja-JP" altLang="en-US" b="0" i="0" u="sng" strike="noStrike" cap="none">
                <a:solidFill>
                  <a:schemeClr val="dk2"/>
                </a:solidFill>
                <a:latin typeface="Meiryo UI"/>
                <a:ea typeface="Meiryo UI"/>
              </a:rPr>
              <a:t>）参考になったppt</a:t>
            </a:r>
          </a:p>
        </p:txBody>
      </p:sp>
      <p:sp>
        <p:nvSpPr>
          <p:cNvPr id="32" name="テキスト ボックス 31"/>
          <p:cNvSpPr txBox="1"/>
          <p:nvPr/>
        </p:nvSpPr>
        <p:spPr>
          <a:xfrm>
            <a:off x="690141" y="4291597"/>
            <a:ext cx="3738984" cy="726173"/>
          </a:xfrm>
          <a:prstGeom prst="rect">
            <a:avLst/>
          </a:prstGeom>
        </p:spPr>
        <p:txBody>
          <a:bodyPr wrap="square">
            <a:spAutoFit/>
          </a:bodyPr>
          <a:lstStyle/>
          <a:p>
            <a:pPr>
              <a:defRPr/>
            </a:pPr>
            <a:r>
              <a:rPr lang="ja-JP" altLang="en-US">
                <a:latin typeface="Meiryo UI"/>
                <a:ea typeface="Meiryo UI"/>
              </a:rPr>
              <a:t>音楽は</a:t>
            </a:r>
            <a:r>
              <a:rPr lang="ja-JP" altLang="en-US">
                <a:latin typeface="Meiryo UI"/>
              </a:rPr>
              <a:t>AI</a:t>
            </a:r>
            <a:r>
              <a:rPr lang="ja-JP" altLang="en-US">
                <a:latin typeface="Meiryo UI"/>
                <a:ea typeface="Meiryo UI"/>
              </a:rPr>
              <a:t>×トークンで扱おう！</a:t>
            </a:r>
            <a:r>
              <a:rPr lang="en-US" altLang="ja-JP">
                <a:latin typeface="Meiryo UI"/>
              </a:rPr>
              <a:t>https://speakerdeck.com/suzuqn/muana-20220629?slide=10</a:t>
            </a:r>
            <a:endParaRPr lang="ja-JP" altLang="en-US" b="0" i="0" u="none" strike="noStrike" cap="none">
              <a:solidFill>
                <a:schemeClr val="dk2"/>
              </a:solidFill>
              <a:latin typeface="Meiryo UI"/>
            </a:endParaRPr>
          </a:p>
        </p:txBody>
      </p:sp>
      <p:sp>
        <p:nvSpPr>
          <p:cNvPr id="33" name="Google Shape;117;p16"/>
          <p:cNvSpPr txBox="1"/>
          <p:nvPr/>
        </p:nvSpPr>
        <p:spPr>
          <a:xfrm>
            <a:off x="4731944" y="187012"/>
            <a:ext cx="2417071" cy="266139"/>
          </a:xfrm>
          <a:prstGeom prst="rect">
            <a:avLst/>
          </a:prstGeom>
          <a:noFill/>
          <a:ln>
            <a:noFill/>
          </a:ln>
        </p:spPr>
        <p:txBody>
          <a:bodyPr wrap="square" lIns="91425" tIns="45700" rIns="91425" bIns="45700" anchor="t" anchorCtr="0">
            <a:noAutofit/>
          </a:bodyPr>
          <a:lstStyle/>
          <a:p>
            <a:pPr marL="0" marR="0" lvl="0" indent="0" algn="l" rtl="0" eaLnBrk="1" latinLnBrk="0" hangingPunct="1">
              <a:lnSpc>
                <a:spcPct val="90000"/>
              </a:lnSpc>
              <a:spcBef>
                <a:spcPts val="0"/>
              </a:spcBef>
              <a:spcAft>
                <a:spcPts val="0"/>
              </a:spcAft>
              <a:buClr>
                <a:srgbClr val="000000"/>
              </a:buClr>
              <a:buSzPct val="25000"/>
              <a:buFont typeface="Arial"/>
              <a:buNone/>
              <a:defRPr/>
            </a:pPr>
            <a:r>
              <a:rPr kumimoji="0" lang="ja-JP" altLang="en-US" sz="1400" b="0" i="0" u="sng" strike="noStrike" kern="0" cap="none" spc="0" normalizeH="0" baseline="0">
                <a:solidFill>
                  <a:srgbClr val="1A1A1A"/>
                </a:solidFill>
                <a:latin typeface="Meiryo UI"/>
                <a:ea typeface="Meiryo UI"/>
              </a:rPr>
              <a:t>自走アプリにあたり使用した本</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Malgun Gothic"/>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Malgun Gothic"/>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Malgun Gothic"/>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Malgun Gothic"/>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1219</Words>
  <Application>Microsoft Office PowerPoint</Application>
  <PresentationFormat>画面に合わせる (16:9)</PresentationFormat>
  <Paragraphs>148</Paragraphs>
  <Slides>8</Slides>
  <Notes>4</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Meiryo UI</vt:lpstr>
      <vt:lpstr>MS PGothic</vt:lpstr>
      <vt:lpstr>MS PGothic</vt:lpstr>
      <vt:lpstr>Arial</vt:lpstr>
      <vt:lpstr>Lato</vt:lpstr>
      <vt:lpstr>Raleway</vt:lpstr>
      <vt:lpstr>Streamline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uu kk</dc:creator>
  <cp:lastModifiedBy>uu kk</cp:lastModifiedBy>
  <cp:revision>126</cp:revision>
  <dcterms:modified xsi:type="dcterms:W3CDTF">2026-02-15T03:57:59Z</dcterms:modified>
  <cp:version/>
</cp:coreProperties>
</file>